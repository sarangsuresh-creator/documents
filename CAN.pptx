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9.jpg" ContentType="image/jpeg"/>
  <Override PartName="/ppt/media/image10.jpg" ContentType="image/jpeg"/>
  <Override PartName="/ppt/media/image11.jpg" ContentType="image/jpeg"/>
  <Override PartName="/ppt/media/image12.jpg" ContentType="image/jpeg"/>
  <Override PartName="/ppt/media/image13.jpg" ContentType="image/jpeg"/>
  <Override PartName="/ppt/media/image14.jpg" ContentType="image/jpeg"/>
  <Override PartName="/ppt/media/image15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86" r:id="rId4"/>
    <p:sldId id="287" r:id="rId5"/>
    <p:sldId id="265" r:id="rId6"/>
    <p:sldId id="298" r:id="rId7"/>
    <p:sldId id="288" r:id="rId8"/>
    <p:sldId id="266" r:id="rId9"/>
    <p:sldId id="269" r:id="rId10"/>
    <p:sldId id="289" r:id="rId11"/>
    <p:sldId id="290" r:id="rId12"/>
    <p:sldId id="271" r:id="rId13"/>
    <p:sldId id="291" r:id="rId14"/>
    <p:sldId id="292" r:id="rId15"/>
    <p:sldId id="293" r:id="rId16"/>
    <p:sldId id="294" r:id="rId17"/>
    <p:sldId id="295" r:id="rId18"/>
    <p:sldId id="296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64" r:id="rId27"/>
    <p:sldId id="282" r:id="rId28"/>
  </p:sldIdLst>
  <p:sldSz cx="6070600" cy="4552950"/>
  <p:notesSz cx="6070600" cy="45529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176" autoAdjust="0"/>
  </p:normalViewPr>
  <p:slideViewPr>
    <p:cSldViewPr>
      <p:cViewPr varScale="1">
        <p:scale>
          <a:sx n="100" d="100"/>
          <a:sy n="100" d="100"/>
        </p:scale>
        <p:origin x="1838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5771" y="1411414"/>
            <a:ext cx="5165407" cy="95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E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1542" y="2549652"/>
            <a:ext cx="4253865" cy="11382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3B5B7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C879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70"/>
              </a:lnSpc>
            </a:pPr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fld id="{81D60167-4931-47E6-BA6A-407CBD079E47}" type="slidenum"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‹#›</a:t>
            </a:fld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endParaRPr sz="1150">
              <a:latin typeface="Courier New"/>
              <a:cs typeface="Courier New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E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>
                <a:solidFill>
                  <a:srgbClr val="3B5B7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C879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70"/>
              </a:lnSpc>
            </a:pPr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fld id="{81D60167-4931-47E6-BA6A-407CBD079E47}" type="slidenum"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‹#›</a:t>
            </a:fld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endParaRPr sz="1150">
              <a:latin typeface="Courier New"/>
              <a:cs typeface="Courier New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E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3847" y="1047178"/>
            <a:ext cx="2643473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29629" y="1047178"/>
            <a:ext cx="2643473" cy="3004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C879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70"/>
              </a:lnSpc>
            </a:pPr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fld id="{81D60167-4931-47E6-BA6A-407CBD079E47}" type="slidenum"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‹#›</a:t>
            </a:fld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endParaRPr sz="1150">
              <a:latin typeface="Courier New"/>
              <a:cs typeface="Courier New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E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C879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70"/>
              </a:lnSpc>
            </a:pPr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fld id="{81D60167-4931-47E6-BA6A-407CBD079E47}" type="slidenum"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‹#›</a:t>
            </a:fld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endParaRPr sz="1150">
              <a:latin typeface="Courier New"/>
              <a:cs typeface="Courier New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9636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9169" y="864742"/>
            <a:ext cx="1073785" cy="0"/>
          </a:xfrm>
          <a:custGeom>
            <a:avLst/>
            <a:gdLst/>
            <a:ahLst/>
            <a:cxnLst/>
            <a:rect l="l" t="t" r="r" b="b"/>
            <a:pathLst>
              <a:path w="1073785">
                <a:moveTo>
                  <a:pt x="0" y="0"/>
                </a:moveTo>
                <a:lnTo>
                  <a:pt x="1073488" y="0"/>
                </a:lnTo>
              </a:path>
            </a:pathLst>
          </a:custGeom>
          <a:ln w="960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60733" y="859940"/>
            <a:ext cx="1016635" cy="10160"/>
          </a:xfrm>
          <a:custGeom>
            <a:avLst/>
            <a:gdLst/>
            <a:ahLst/>
            <a:cxnLst/>
            <a:rect l="l" t="t" r="r" b="b"/>
            <a:pathLst>
              <a:path w="1016635" h="10159">
                <a:moveTo>
                  <a:pt x="1016216" y="9604"/>
                </a:moveTo>
                <a:lnTo>
                  <a:pt x="0" y="9604"/>
                </a:lnTo>
                <a:lnTo>
                  <a:pt x="0" y="0"/>
                </a:lnTo>
                <a:lnTo>
                  <a:pt x="1016216" y="0"/>
                </a:lnTo>
                <a:lnTo>
                  <a:pt x="1016216" y="9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02558" y="4312832"/>
            <a:ext cx="5041900" cy="0"/>
          </a:xfrm>
          <a:custGeom>
            <a:avLst/>
            <a:gdLst/>
            <a:ahLst/>
            <a:cxnLst/>
            <a:rect l="l" t="t" r="r" b="b"/>
            <a:pathLst>
              <a:path w="5041900">
                <a:moveTo>
                  <a:pt x="0" y="0"/>
                </a:moveTo>
                <a:lnTo>
                  <a:pt x="5041563" y="0"/>
                </a:lnTo>
              </a:path>
            </a:pathLst>
          </a:custGeom>
          <a:ln w="384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323659"/>
            <a:ext cx="245110" cy="332105"/>
          </a:xfrm>
          <a:custGeom>
            <a:avLst/>
            <a:gdLst/>
            <a:ahLst/>
            <a:cxnLst/>
            <a:rect l="l" t="t" r="r" b="b"/>
            <a:pathLst>
              <a:path w="245110" h="332105">
                <a:moveTo>
                  <a:pt x="0" y="331950"/>
                </a:moveTo>
                <a:lnTo>
                  <a:pt x="244809" y="331950"/>
                </a:lnTo>
                <a:lnTo>
                  <a:pt x="244809" y="0"/>
                </a:lnTo>
                <a:lnTo>
                  <a:pt x="0" y="0"/>
                </a:lnTo>
                <a:lnTo>
                  <a:pt x="0" y="331950"/>
                </a:lnTo>
                <a:close/>
              </a:path>
            </a:pathLst>
          </a:custGeom>
          <a:solidFill>
            <a:srgbClr val="0F54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02317" y="323659"/>
            <a:ext cx="20955" cy="332105"/>
          </a:xfrm>
          <a:custGeom>
            <a:avLst/>
            <a:gdLst/>
            <a:ahLst/>
            <a:cxnLst/>
            <a:rect l="l" t="t" r="r" b="b"/>
            <a:pathLst>
              <a:path w="20954" h="332105">
                <a:moveTo>
                  <a:pt x="0" y="331950"/>
                </a:moveTo>
                <a:lnTo>
                  <a:pt x="20349" y="331950"/>
                </a:lnTo>
                <a:lnTo>
                  <a:pt x="20349" y="0"/>
                </a:lnTo>
                <a:lnTo>
                  <a:pt x="0" y="0"/>
                </a:lnTo>
                <a:lnTo>
                  <a:pt x="0" y="331950"/>
                </a:lnTo>
                <a:close/>
              </a:path>
            </a:pathLst>
          </a:custGeom>
          <a:solidFill>
            <a:srgbClr val="0F54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44809" y="323659"/>
            <a:ext cx="57785" cy="332105"/>
          </a:xfrm>
          <a:custGeom>
            <a:avLst/>
            <a:gdLst/>
            <a:ahLst/>
            <a:cxnLst/>
            <a:rect l="l" t="t" r="r" b="b"/>
            <a:pathLst>
              <a:path w="57785" h="332105">
                <a:moveTo>
                  <a:pt x="57508" y="331950"/>
                </a:moveTo>
                <a:lnTo>
                  <a:pt x="0" y="331950"/>
                </a:lnTo>
                <a:lnTo>
                  <a:pt x="0" y="0"/>
                </a:lnTo>
                <a:lnTo>
                  <a:pt x="57508" y="0"/>
                </a:lnTo>
                <a:lnTo>
                  <a:pt x="57508" y="331950"/>
                </a:lnTo>
                <a:close/>
              </a:path>
            </a:pathLst>
          </a:custGeom>
          <a:solidFill>
            <a:srgbClr val="11679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68757" y="319738"/>
            <a:ext cx="232410" cy="348615"/>
          </a:xfrm>
          <a:custGeom>
            <a:avLst/>
            <a:gdLst/>
            <a:ahLst/>
            <a:cxnLst/>
            <a:rect l="l" t="t" r="r" b="b"/>
            <a:pathLst>
              <a:path w="232409" h="348615">
                <a:moveTo>
                  <a:pt x="231873" y="348464"/>
                </a:moveTo>
                <a:lnTo>
                  <a:pt x="0" y="348464"/>
                </a:lnTo>
                <a:lnTo>
                  <a:pt x="0" y="0"/>
                </a:lnTo>
                <a:lnTo>
                  <a:pt x="231873" y="0"/>
                </a:lnTo>
                <a:lnTo>
                  <a:pt x="231873" y="348464"/>
                </a:lnTo>
                <a:close/>
              </a:path>
            </a:pathLst>
          </a:custGeom>
          <a:solidFill>
            <a:srgbClr val="0F54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7C879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70"/>
              </a:lnSpc>
            </a:pPr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fld id="{81D60167-4931-47E6-BA6A-407CBD079E47}" type="slidenum"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‹#›</a:t>
            </a:fld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endParaRPr sz="1150">
              <a:latin typeface="Courier New"/>
              <a:cs typeface="Courier New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68776" y="221333"/>
            <a:ext cx="3366770" cy="425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E8F9FB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8573" y="861007"/>
            <a:ext cx="5210175" cy="2832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>
                <a:solidFill>
                  <a:srgbClr val="3B5B7E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66163" y="4234243"/>
            <a:ext cx="1944624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3847" y="4234243"/>
            <a:ext cx="1397698" cy="2276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906326" y="4283176"/>
            <a:ext cx="314325" cy="192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7C8795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70"/>
              </a:lnSpc>
            </a:pPr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fld id="{81D60167-4931-47E6-BA6A-407CBD079E47}" type="slidenum"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‹#›</a:t>
            </a:fld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endParaRPr sz="1150">
              <a:latin typeface="Courier New"/>
              <a:cs typeface="Courier New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0" y="66675"/>
            <a:ext cx="6070600" cy="37702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sz="2300" b="1" spc="50" dirty="0">
                <a:solidFill>
                  <a:srgbClr val="0AA54F"/>
                </a:solidFill>
                <a:latin typeface="Arial"/>
                <a:cs typeface="Arial"/>
              </a:rPr>
              <a:t>CAN</a:t>
            </a:r>
            <a:r>
              <a:rPr lang="en-US" sz="2300" b="1" spc="50" dirty="0">
                <a:solidFill>
                  <a:srgbClr val="0AA54F"/>
                </a:solidFill>
                <a:latin typeface="Arial"/>
                <a:cs typeface="Arial"/>
              </a:rPr>
              <a:t>(Controller Area Network)</a:t>
            </a:r>
            <a:r>
              <a:rPr lang="en-US" sz="2300" b="1" dirty="0">
                <a:latin typeface="Arial"/>
                <a:cs typeface="Arial"/>
              </a:rPr>
              <a:t> </a:t>
            </a:r>
            <a:r>
              <a:rPr sz="2350" b="1" spc="110" dirty="0">
                <a:solidFill>
                  <a:srgbClr val="0AA54F"/>
                </a:solidFill>
                <a:latin typeface="Arial"/>
                <a:cs typeface="Arial"/>
              </a:rPr>
              <a:t>Protocol</a:t>
            </a:r>
            <a:endParaRPr sz="2350" b="1" dirty="0">
              <a:latin typeface="Arial"/>
              <a:cs typeface="Arial"/>
            </a:endParaRPr>
          </a:p>
        </p:txBody>
      </p:sp>
      <p:pic>
        <p:nvPicPr>
          <p:cNvPr id="1028" name="Picture 4" descr="10 innovative technologies that work behind the scenes to make cars safer">
            <a:extLst>
              <a:ext uri="{FF2B5EF4-FFF2-40B4-BE49-F238E27FC236}">
                <a16:creationId xmlns:a16="http://schemas.microsoft.com/office/drawing/2014/main" id="{6985FC9E-4165-A858-7604-DAC3F74A9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6888"/>
            <a:ext cx="6070600" cy="4141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70"/>
              </a:lnSpc>
            </a:pPr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fld id="{81D60167-4931-47E6-BA6A-407CBD079E47}" type="slidenum"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2</a:t>
            </a:fld>
            <a:r>
              <a:rPr sz="1150" spc="40" dirty="0">
                <a:solidFill>
                  <a:srgbClr val="80909A"/>
                </a:solidFill>
                <a:latin typeface="Courier New"/>
                <a:cs typeface="Courier New"/>
              </a:rPr>
              <a:t>.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900" y="523875"/>
            <a:ext cx="5581650" cy="482516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8450" indent="-285750" algn="just">
              <a:lnSpc>
                <a:spcPct val="150000"/>
              </a:lnSpc>
              <a:spcBef>
                <a:spcPts val="115"/>
              </a:spcBef>
              <a:buClr>
                <a:srgbClr val="1C4B7E"/>
              </a:buClr>
              <a:buFont typeface="Wingdings" panose="05000000000000000000" pitchFamily="2" charset="2"/>
              <a:buChar char="q"/>
              <a:tabLst>
                <a:tab pos="237490" algn="l"/>
              </a:tabLst>
            </a:pP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Originally</a:t>
            </a:r>
            <a:r>
              <a:rPr lang="en-US" sz="1750" spc="2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developed</a:t>
            </a:r>
            <a:r>
              <a:rPr lang="en-US" sz="1750" spc="3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by</a:t>
            </a:r>
            <a:r>
              <a:rPr lang="en-US" sz="1750" spc="19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55" dirty="0">
                <a:solidFill>
                  <a:schemeClr val="tx1"/>
                </a:solidFill>
                <a:latin typeface="Arial"/>
                <a:cs typeface="Arial"/>
              </a:rPr>
              <a:t>Robert</a:t>
            </a:r>
            <a:r>
              <a:rPr lang="en-US" sz="1750" spc="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60" dirty="0">
                <a:solidFill>
                  <a:schemeClr val="tx1"/>
                </a:solidFill>
                <a:latin typeface="Arial"/>
                <a:cs typeface="Arial"/>
              </a:rPr>
              <a:t>Bosch</a:t>
            </a:r>
            <a:r>
              <a:rPr lang="en-US" sz="1750" spc="13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-25" dirty="0">
                <a:solidFill>
                  <a:schemeClr val="tx1"/>
                </a:solidFill>
                <a:latin typeface="Arial"/>
                <a:cs typeface="Arial"/>
              </a:rPr>
              <a:t>for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automobile</a:t>
            </a:r>
            <a:r>
              <a:rPr lang="en-US" sz="1750" spc="34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in-vehicle</a:t>
            </a:r>
            <a:r>
              <a:rPr lang="en-US" sz="1750" spc="2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network</a:t>
            </a:r>
            <a:r>
              <a:rPr lang="en-US" sz="1750" spc="43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lang="en-US" sz="1750" spc="3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lang="en-US" sz="1750" spc="2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65" dirty="0">
                <a:solidFill>
                  <a:schemeClr val="tx1"/>
                </a:solidFill>
                <a:latin typeface="Arial"/>
                <a:cs typeface="Arial"/>
              </a:rPr>
              <a:t>1980s</a:t>
            </a:r>
            <a:endParaRPr lang="en-US" sz="1750" spc="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 algn="just">
              <a:lnSpc>
                <a:spcPct val="150000"/>
              </a:lnSpc>
              <a:spcBef>
                <a:spcPts val="115"/>
              </a:spcBef>
              <a:buClr>
                <a:srgbClr val="1C4B7E"/>
              </a:buClr>
              <a:buFont typeface="Wingdings" panose="05000000000000000000" pitchFamily="2" charset="2"/>
              <a:buChar char="q"/>
              <a:tabLst>
                <a:tab pos="237490" algn="l"/>
              </a:tabLst>
            </a:pPr>
            <a:r>
              <a:rPr sz="1750" spc="50" dirty="0">
                <a:solidFill>
                  <a:schemeClr val="tx1"/>
                </a:solidFill>
                <a:latin typeface="Arial"/>
                <a:cs typeface="Arial"/>
              </a:rPr>
              <a:t>Multi-</a:t>
            </a:r>
            <a:r>
              <a:rPr sz="1750" spc="65" dirty="0">
                <a:solidFill>
                  <a:schemeClr val="tx1"/>
                </a:solidFill>
                <a:latin typeface="Arial"/>
                <a:cs typeface="Arial"/>
              </a:rPr>
              <a:t>master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sz="1750" spc="-10" dirty="0">
                <a:solidFill>
                  <a:schemeClr val="tx1"/>
                </a:solidFill>
                <a:latin typeface="Arial"/>
                <a:cs typeface="Arial"/>
              </a:rPr>
              <a:t>Broadcasting</a:t>
            </a:r>
            <a:r>
              <a:rPr lang="en-US" sz="1750" spc="-1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sz="1750" dirty="0">
                <a:solidFill>
                  <a:schemeClr val="tx1"/>
                </a:solidFill>
                <a:latin typeface="Arial"/>
                <a:cs typeface="Arial"/>
              </a:rPr>
              <a:t>Serial</a:t>
            </a:r>
            <a:r>
              <a:rPr sz="1750" spc="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50" spc="45" dirty="0">
                <a:solidFill>
                  <a:schemeClr val="tx1"/>
                </a:solidFill>
                <a:latin typeface="Arial"/>
                <a:cs typeface="Arial"/>
              </a:rPr>
              <a:t>communication</a:t>
            </a:r>
            <a:r>
              <a:rPr lang="en-US" sz="1750" spc="250" dirty="0">
                <a:solidFill>
                  <a:schemeClr val="tx1"/>
                </a:solidFill>
                <a:latin typeface="Arial"/>
                <a:cs typeface="Arial"/>
              </a:rPr>
              <a:t> protocol</a:t>
            </a:r>
            <a:endParaRPr sz="17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 algn="just">
              <a:lnSpc>
                <a:spcPct val="150000"/>
              </a:lnSpc>
              <a:buClr>
                <a:srgbClr val="1C4B7E"/>
              </a:buClr>
              <a:buFont typeface="Wingdings" panose="05000000000000000000" pitchFamily="2" charset="2"/>
              <a:buChar char="q"/>
              <a:tabLst>
                <a:tab pos="246379" algn="l"/>
              </a:tabLst>
            </a:pPr>
            <a:r>
              <a:rPr sz="1750" dirty="0">
                <a:solidFill>
                  <a:schemeClr val="tx1"/>
                </a:solidFill>
                <a:latin typeface="Arial"/>
                <a:cs typeface="Arial"/>
              </a:rPr>
              <a:t>Priority-</a:t>
            </a:r>
            <a:r>
              <a:rPr sz="1750" spc="60" dirty="0">
                <a:solidFill>
                  <a:schemeClr val="tx1"/>
                </a:solidFill>
                <a:latin typeface="Arial"/>
                <a:cs typeface="Arial"/>
              </a:rPr>
              <a:t>based</a:t>
            </a:r>
            <a:r>
              <a:rPr sz="175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chemeClr val="tx1"/>
                </a:solidFill>
                <a:latin typeface="Arial"/>
                <a:cs typeface="Arial"/>
              </a:rPr>
              <a:t>bit-wise</a:t>
            </a:r>
            <a:r>
              <a:rPr sz="1750" spc="434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chemeClr val="tx1"/>
                </a:solidFill>
                <a:latin typeface="Arial"/>
                <a:cs typeface="Arial"/>
              </a:rPr>
              <a:t>arbitration</a:t>
            </a:r>
            <a:endParaRPr lang="en-US" sz="1750" spc="-1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 algn="just">
              <a:lnSpc>
                <a:spcPct val="150000"/>
              </a:lnSpc>
              <a:buClr>
                <a:srgbClr val="1F4D82"/>
              </a:buClr>
              <a:buFont typeface="Wingdings" panose="05000000000000000000" pitchFamily="2" charset="2"/>
              <a:buChar char="q"/>
              <a:tabLst>
                <a:tab pos="245745" algn="l"/>
              </a:tabLst>
            </a:pPr>
            <a:r>
              <a:rPr lang="en-US" sz="1750" spc="50" dirty="0">
                <a:solidFill>
                  <a:schemeClr val="tx1"/>
                </a:solidFill>
                <a:latin typeface="Arial"/>
                <a:cs typeface="Arial"/>
              </a:rPr>
              <a:t>For</a:t>
            </a:r>
            <a:r>
              <a:rPr lang="en-US" sz="1750" spc="-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45" dirty="0">
                <a:solidFill>
                  <a:schemeClr val="tx1"/>
                </a:solidFill>
                <a:latin typeface="Arial"/>
                <a:cs typeface="Arial"/>
              </a:rPr>
              <a:t>reliable and </a:t>
            </a:r>
            <a:r>
              <a:rPr lang="en-US" sz="1750" spc="60" dirty="0">
                <a:solidFill>
                  <a:schemeClr val="tx1"/>
                </a:solidFill>
                <a:latin typeface="Arial"/>
                <a:cs typeface="Arial"/>
              </a:rPr>
              <a:t>Robust</a:t>
            </a:r>
            <a:r>
              <a:rPr lang="en-US" sz="1750" spc="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60" dirty="0">
                <a:solidFill>
                  <a:schemeClr val="tx1"/>
                </a:solidFill>
                <a:latin typeface="Arial"/>
                <a:cs typeface="Arial"/>
              </a:rPr>
              <a:t>data</a:t>
            </a:r>
            <a:r>
              <a:rPr lang="en-US" sz="1750" spc="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chemeClr val="tx1"/>
                </a:solidFill>
                <a:latin typeface="Arial"/>
                <a:cs typeface="Arial"/>
              </a:rPr>
              <a:t>exchange</a:t>
            </a:r>
            <a:r>
              <a:rPr lang="en-US" sz="1750" spc="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chemeClr val="tx1"/>
                </a:solidFill>
                <a:latin typeface="Arial"/>
                <a:cs typeface="Arial"/>
              </a:rPr>
              <a:t>between</a:t>
            </a:r>
            <a:r>
              <a:rPr lang="en-US" sz="1750" spc="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45" dirty="0">
                <a:solidFill>
                  <a:schemeClr val="tx1"/>
                </a:solidFill>
                <a:latin typeface="Arial"/>
                <a:cs typeface="Arial"/>
              </a:rPr>
              <a:t>ECUs especially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in</a:t>
            </a:r>
            <a:r>
              <a:rPr lang="en-US" sz="1750" spc="1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noisy</a:t>
            </a:r>
            <a:r>
              <a:rPr lang="en-US" sz="1750" spc="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40" dirty="0">
                <a:solidFill>
                  <a:schemeClr val="tx1"/>
                </a:solidFill>
                <a:latin typeface="Arial"/>
                <a:cs typeface="Arial"/>
              </a:rPr>
              <a:t>environments</a:t>
            </a:r>
            <a:endParaRPr lang="en-US" sz="17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 algn="just">
              <a:lnSpc>
                <a:spcPct val="150000"/>
              </a:lnSpc>
              <a:buClr>
                <a:srgbClr val="1F4D82"/>
              </a:buClr>
              <a:buFont typeface="Wingdings" panose="05000000000000000000" pitchFamily="2" charset="2"/>
              <a:buChar char="q"/>
              <a:tabLst>
                <a:tab pos="243204" algn="l"/>
              </a:tabLst>
            </a:pPr>
            <a:r>
              <a:rPr lang="en-US" sz="1750" spc="55" dirty="0">
                <a:solidFill>
                  <a:schemeClr val="tx1"/>
                </a:solidFill>
                <a:latin typeface="Arial"/>
                <a:cs typeface="Arial"/>
              </a:rPr>
              <a:t>Cost</a:t>
            </a:r>
            <a:r>
              <a:rPr lang="en-US" sz="1750" spc="-2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-10" dirty="0">
                <a:solidFill>
                  <a:schemeClr val="tx1"/>
                </a:solidFill>
                <a:latin typeface="Arial"/>
                <a:cs typeface="Arial"/>
              </a:rPr>
              <a:t>effective, </a:t>
            </a:r>
            <a:r>
              <a:rPr lang="en-US" sz="1750" spc="55" dirty="0">
                <a:solidFill>
                  <a:schemeClr val="tx1"/>
                </a:solidFill>
                <a:latin typeface="Arial"/>
                <a:cs typeface="Arial"/>
              </a:rPr>
              <a:t>Compact</a:t>
            </a:r>
            <a:r>
              <a:rPr lang="en-US" sz="1750" spc="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70" dirty="0">
                <a:solidFill>
                  <a:schemeClr val="tx1"/>
                </a:solidFill>
                <a:latin typeface="Arial"/>
                <a:cs typeface="Arial"/>
              </a:rPr>
              <a:t>and</a:t>
            </a:r>
            <a:r>
              <a:rPr lang="en-US" sz="1750" spc="-6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30" dirty="0">
                <a:solidFill>
                  <a:schemeClr val="tx1"/>
                </a:solidFill>
                <a:latin typeface="Arial"/>
                <a:cs typeface="Arial"/>
              </a:rPr>
              <a:t>fast</a:t>
            </a:r>
            <a:endParaRPr lang="en-US" sz="17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 algn="just">
              <a:lnSpc>
                <a:spcPct val="150000"/>
              </a:lnSpc>
              <a:buClr>
                <a:srgbClr val="1F4F82"/>
              </a:buClr>
              <a:buFont typeface="Wingdings" panose="05000000000000000000" pitchFamily="2" charset="2"/>
              <a:buChar char="q"/>
              <a:tabLst>
                <a:tab pos="243204" algn="l"/>
              </a:tabLst>
            </a:pP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It</a:t>
            </a:r>
            <a:r>
              <a:rPr lang="en-US" sz="1750" spc="2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is</a:t>
            </a:r>
            <a:r>
              <a:rPr lang="en-US" sz="1750" spc="2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lang="en-US" sz="1750" spc="2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message-based</a:t>
            </a:r>
            <a:r>
              <a:rPr lang="en-US" sz="1750" spc="3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45" dirty="0">
                <a:solidFill>
                  <a:schemeClr val="tx1"/>
                </a:solidFill>
                <a:latin typeface="Arial"/>
                <a:cs typeface="Arial"/>
              </a:rPr>
              <a:t>protocol.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 err="1">
                <a:solidFill>
                  <a:schemeClr val="tx1"/>
                </a:solidFill>
                <a:latin typeface="Arial"/>
                <a:cs typeface="Arial"/>
              </a:rPr>
              <a:t>ie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, </a:t>
            </a:r>
            <a:r>
              <a:rPr lang="en-US" sz="1750" spc="60" dirty="0">
                <a:solidFill>
                  <a:schemeClr val="tx1"/>
                </a:solidFill>
                <a:latin typeface="Arial"/>
                <a:cs typeface="Arial"/>
              </a:rPr>
              <a:t>there</a:t>
            </a:r>
            <a:r>
              <a:rPr lang="en-US" sz="1750" spc="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55" dirty="0">
                <a:solidFill>
                  <a:schemeClr val="tx1"/>
                </a:solidFill>
                <a:latin typeface="Arial"/>
                <a:cs typeface="Arial"/>
              </a:rPr>
              <a:t>are</a:t>
            </a:r>
            <a:r>
              <a:rPr lang="en-US" sz="1750" spc="1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75" dirty="0">
                <a:solidFill>
                  <a:schemeClr val="tx1"/>
                </a:solidFill>
                <a:latin typeface="Arial"/>
                <a:cs typeface="Arial"/>
              </a:rPr>
              <a:t>no</a:t>
            </a:r>
            <a:r>
              <a:rPr lang="en-US" sz="1750" spc="1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chemeClr val="tx1"/>
                </a:solidFill>
                <a:latin typeface="Arial"/>
                <a:cs typeface="Arial"/>
              </a:rPr>
              <a:t>defined</a:t>
            </a:r>
            <a:r>
              <a:rPr lang="en-US" sz="1750" spc="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chemeClr val="tx1"/>
                </a:solidFill>
                <a:latin typeface="Arial"/>
                <a:cs typeface="Arial"/>
              </a:rPr>
              <a:t>addresses,</a:t>
            </a:r>
            <a:r>
              <a:rPr lang="en-US" sz="1750" spc="13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chemeClr val="tx1"/>
                </a:solidFill>
                <a:latin typeface="Arial"/>
                <a:cs typeface="Arial"/>
              </a:rPr>
              <a:t>just</a:t>
            </a:r>
            <a:r>
              <a:rPr lang="en-US" sz="1750" spc="12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1750" spc="-10" dirty="0">
                <a:solidFill>
                  <a:schemeClr val="tx1"/>
                </a:solidFill>
                <a:latin typeface="Arial"/>
                <a:cs typeface="Arial"/>
              </a:rPr>
              <a:t>defined </a:t>
            </a:r>
            <a:r>
              <a:rPr lang="en-US" sz="1750" spc="40" dirty="0">
                <a:solidFill>
                  <a:schemeClr val="tx1"/>
                </a:solidFill>
                <a:latin typeface="Arial"/>
                <a:cs typeface="Arial"/>
              </a:rPr>
              <a:t>messages.</a:t>
            </a:r>
            <a:endParaRPr lang="en-US" sz="17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 algn="just">
              <a:lnSpc>
                <a:spcPct val="150000"/>
              </a:lnSpc>
              <a:buClr>
                <a:srgbClr val="1F4D82"/>
              </a:buClr>
              <a:buFont typeface="Wingdings" panose="05000000000000000000" pitchFamily="2" charset="2"/>
              <a:buChar char="q"/>
              <a:tabLst>
                <a:tab pos="243204" algn="l"/>
              </a:tabLst>
            </a:pPr>
            <a:endParaRPr lang="en-US" sz="175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98450" indent="-285750" algn="just">
              <a:lnSpc>
                <a:spcPct val="150000"/>
              </a:lnSpc>
              <a:buClr>
                <a:srgbClr val="1C4B7E"/>
              </a:buClr>
              <a:buFont typeface="Wingdings" panose="05000000000000000000" pitchFamily="2" charset="2"/>
              <a:buChar char="q"/>
              <a:tabLst>
                <a:tab pos="246379" algn="l"/>
              </a:tabLst>
            </a:pPr>
            <a:endParaRPr sz="17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9E6BAD6-23C6-1E1F-DBCB-20805BD13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776" y="66675"/>
            <a:ext cx="3366770" cy="49244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Introduction</a:t>
            </a:r>
            <a:endParaRPr lang="en-IN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6350" y="66675"/>
            <a:ext cx="60769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0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01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b="1" dirty="0">
                <a:solidFill>
                  <a:srgbClr val="808A95"/>
                </a:solidFill>
                <a:latin typeface="Arial"/>
                <a:cs typeface="Arial"/>
              </a:rPr>
              <a:t>-</a:t>
            </a:r>
            <a:fld id="{81D60167-4931-47E6-BA6A-407CBD079E47}" type="slidenum">
              <a:rPr b="1" dirty="0">
                <a:solidFill>
                  <a:srgbClr val="808A95"/>
                </a:solidFill>
                <a:latin typeface="Arial"/>
                <a:cs typeface="Arial"/>
              </a:rPr>
              <a:t>5</a:t>
            </a:fld>
            <a:r>
              <a:rPr b="1" spc="65" dirty="0">
                <a:solidFill>
                  <a:srgbClr val="808A95"/>
                </a:solidFill>
                <a:latin typeface="Arial"/>
                <a:cs typeface="Arial"/>
              </a:rPr>
              <a:t> </a:t>
            </a:r>
            <a:r>
              <a:rPr spc="-50" dirty="0">
                <a:solidFill>
                  <a:srgbClr val="808A95"/>
                </a:solidFill>
              </a:rPr>
              <a:t>•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0" y="856524"/>
            <a:ext cx="6070600" cy="3093026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735"/>
              </a:spcBef>
              <a:buFont typeface="Wingdings" panose="05000000000000000000" pitchFamily="2" charset="2"/>
              <a:buChar char="v"/>
              <a:tabLst>
                <a:tab pos="247015" algn="l"/>
              </a:tabLst>
            </a:pPr>
            <a:r>
              <a:rPr sz="2050" spc="55" dirty="0">
                <a:solidFill>
                  <a:srgbClr val="31547B"/>
                </a:solidFill>
                <a:latin typeface="Arial"/>
                <a:cs typeface="Arial"/>
              </a:rPr>
              <a:t>All</a:t>
            </a:r>
            <a:r>
              <a:rPr sz="2050" spc="4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messages</a:t>
            </a:r>
            <a:r>
              <a:rPr sz="2050" spc="325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are</a:t>
            </a:r>
            <a:r>
              <a:rPr sz="2050" spc="6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31547B"/>
                </a:solidFill>
                <a:latin typeface="Arial"/>
                <a:cs typeface="Arial"/>
              </a:rPr>
              <a:t>broadcast</a:t>
            </a:r>
            <a:endParaRPr sz="2050" dirty="0">
              <a:latin typeface="Arial"/>
              <a:cs typeface="Arial"/>
            </a:endParaRPr>
          </a:p>
          <a:p>
            <a:pPr marL="354965" marR="111760" indent="-342900">
              <a:lnSpc>
                <a:spcPct val="150000"/>
              </a:lnSpc>
              <a:spcBef>
                <a:spcPts val="530"/>
              </a:spcBef>
              <a:buFont typeface="Wingdings" panose="05000000000000000000" pitchFamily="2" charset="2"/>
              <a:buChar char="v"/>
              <a:tabLst>
                <a:tab pos="238760" algn="l"/>
                <a:tab pos="247015" algn="l"/>
              </a:tabLst>
            </a:pPr>
            <a:r>
              <a:rPr sz="2050" spc="55" dirty="0">
                <a:solidFill>
                  <a:srgbClr val="31547B"/>
                </a:solidFill>
                <a:latin typeface="Arial"/>
                <a:cs typeface="Arial"/>
              </a:rPr>
              <a:t>Any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50" dirty="0">
                <a:solidFill>
                  <a:srgbClr val="21446B"/>
                </a:solidFill>
                <a:latin typeface="Arial"/>
                <a:cs typeface="Arial"/>
              </a:rPr>
              <a:t>node</a:t>
            </a:r>
            <a:r>
              <a:rPr sz="2050" spc="55" dirty="0">
                <a:solidFill>
                  <a:srgbClr val="21446B"/>
                </a:solidFill>
                <a:latin typeface="Arial"/>
                <a:cs typeface="Arial"/>
              </a:rPr>
              <a:t> </a:t>
            </a:r>
            <a:r>
              <a:rPr sz="2050" spc="80" dirty="0">
                <a:solidFill>
                  <a:srgbClr val="31547B"/>
                </a:solidFill>
                <a:latin typeface="Arial"/>
                <a:cs typeface="Arial"/>
              </a:rPr>
              <a:t>is</a:t>
            </a:r>
            <a:r>
              <a:rPr sz="2050" spc="5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allowed</a:t>
            </a:r>
            <a:r>
              <a:rPr sz="2050" spc="14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to</a:t>
            </a:r>
            <a:r>
              <a:rPr sz="2050" spc="14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broadcast</a:t>
            </a:r>
            <a:r>
              <a:rPr sz="2050" spc="245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31547B"/>
                </a:solidFill>
                <a:latin typeface="Arial"/>
                <a:cs typeface="Arial"/>
              </a:rPr>
              <a:t>a </a:t>
            </a:r>
            <a:r>
              <a:rPr sz="2050" spc="-10" dirty="0">
                <a:solidFill>
                  <a:srgbClr val="31547B"/>
                </a:solidFill>
                <a:latin typeface="Arial"/>
                <a:cs typeface="Arial"/>
              </a:rPr>
              <a:t>message</a:t>
            </a:r>
            <a:endParaRPr sz="2050" dirty="0">
              <a:latin typeface="Arial"/>
              <a:cs typeface="Arial"/>
            </a:endParaRPr>
          </a:p>
          <a:p>
            <a:pPr marL="354965" marR="92710" indent="-342900">
              <a:lnSpc>
                <a:spcPct val="150000"/>
              </a:lnSpc>
              <a:spcBef>
                <a:spcPts val="530"/>
              </a:spcBef>
              <a:buFont typeface="Wingdings" panose="05000000000000000000" pitchFamily="2" charset="2"/>
              <a:buChar char="v"/>
              <a:tabLst>
                <a:tab pos="238760" algn="l"/>
                <a:tab pos="245110" algn="l"/>
              </a:tabLst>
            </a:pP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Each</a:t>
            </a:r>
            <a:r>
              <a:rPr sz="2050" spc="145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21446B"/>
                </a:solidFill>
                <a:latin typeface="Arial"/>
                <a:cs typeface="Arial"/>
              </a:rPr>
              <a:t>message</a:t>
            </a:r>
            <a:r>
              <a:rPr sz="2050" spc="220" dirty="0">
                <a:solidFill>
                  <a:srgbClr val="21446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contains</a:t>
            </a:r>
            <a:r>
              <a:rPr sz="2050" spc="204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75" dirty="0">
                <a:solidFill>
                  <a:srgbClr val="31547B"/>
                </a:solidFill>
                <a:latin typeface="Arial"/>
                <a:cs typeface="Arial"/>
              </a:rPr>
              <a:t>an</a:t>
            </a:r>
            <a:r>
              <a:rPr sz="2050" spc="8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100" dirty="0">
                <a:solidFill>
                  <a:srgbClr val="21446B"/>
                </a:solidFill>
                <a:latin typeface="Arial"/>
                <a:cs typeface="Arial"/>
              </a:rPr>
              <a:t>ID</a:t>
            </a:r>
            <a:r>
              <a:rPr sz="2050" dirty="0">
                <a:solidFill>
                  <a:srgbClr val="21446B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srgbClr val="31547B"/>
                </a:solidFill>
                <a:latin typeface="Arial"/>
                <a:cs typeface="Arial"/>
              </a:rPr>
              <a:t>that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identifies</a:t>
            </a:r>
            <a:r>
              <a:rPr sz="2050" spc="175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21446B"/>
                </a:solidFill>
                <a:latin typeface="Arial"/>
                <a:cs typeface="Arial"/>
              </a:rPr>
              <a:t>the</a:t>
            </a:r>
            <a:r>
              <a:rPr sz="2050" spc="125" dirty="0">
                <a:solidFill>
                  <a:srgbClr val="21446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source</a:t>
            </a:r>
            <a:r>
              <a:rPr sz="2050" spc="195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60" dirty="0">
                <a:solidFill>
                  <a:srgbClr val="31547B"/>
                </a:solidFill>
                <a:latin typeface="Arial"/>
                <a:cs typeface="Arial"/>
              </a:rPr>
              <a:t>or</a:t>
            </a:r>
            <a:r>
              <a:rPr sz="2050" spc="4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content</a:t>
            </a:r>
            <a:r>
              <a:rPr sz="2050" spc="24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65" dirty="0">
                <a:solidFill>
                  <a:srgbClr val="31547B"/>
                </a:solidFill>
                <a:latin typeface="Arial"/>
                <a:cs typeface="Arial"/>
              </a:rPr>
              <a:t>of</a:t>
            </a:r>
            <a:r>
              <a:rPr sz="2050" spc="9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5" dirty="0">
                <a:solidFill>
                  <a:srgbClr val="31547B"/>
                </a:solidFill>
                <a:latin typeface="Arial"/>
                <a:cs typeface="Arial"/>
              </a:rPr>
              <a:t>a </a:t>
            </a:r>
            <a:r>
              <a:rPr sz="2050" spc="-10" dirty="0">
                <a:solidFill>
                  <a:srgbClr val="31547B"/>
                </a:solidFill>
                <a:latin typeface="Arial"/>
                <a:cs typeface="Arial"/>
              </a:rPr>
              <a:t>message</a:t>
            </a:r>
            <a:endParaRPr sz="2050" dirty="0">
              <a:latin typeface="Arial"/>
              <a:cs typeface="Arial"/>
            </a:endParaRPr>
          </a:p>
          <a:p>
            <a:pPr marL="354965" marR="5080" indent="-342900">
              <a:lnSpc>
                <a:spcPct val="150000"/>
              </a:lnSpc>
              <a:spcBef>
                <a:spcPts val="680"/>
              </a:spcBef>
              <a:buFont typeface="Wingdings" panose="05000000000000000000" pitchFamily="2" charset="2"/>
              <a:buChar char="v"/>
              <a:tabLst>
                <a:tab pos="238760" algn="l"/>
                <a:tab pos="245110" algn="l"/>
              </a:tabLst>
            </a:pPr>
            <a:r>
              <a:rPr sz="2050" dirty="0">
                <a:solidFill>
                  <a:srgbClr val="21446B"/>
                </a:solidFill>
                <a:latin typeface="Arial"/>
                <a:cs typeface="Arial"/>
              </a:rPr>
              <a:t>Each</a:t>
            </a:r>
            <a:r>
              <a:rPr sz="2050" spc="170" dirty="0">
                <a:solidFill>
                  <a:srgbClr val="21446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receiver</a:t>
            </a:r>
            <a:r>
              <a:rPr sz="2050" spc="29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decides</a:t>
            </a:r>
            <a:r>
              <a:rPr sz="2050" spc="254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to</a:t>
            </a:r>
            <a:r>
              <a:rPr sz="2050" spc="229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process</a:t>
            </a:r>
            <a:r>
              <a:rPr sz="2050" spc="25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-25" dirty="0">
                <a:solidFill>
                  <a:srgbClr val="31547B"/>
                </a:solidFill>
                <a:latin typeface="Arial"/>
                <a:cs typeface="Arial"/>
              </a:rPr>
              <a:t>or </a:t>
            </a:r>
            <a:r>
              <a:rPr sz="2050" dirty="0">
                <a:solidFill>
                  <a:srgbClr val="31547B"/>
                </a:solidFill>
                <a:latin typeface="Arial"/>
                <a:cs typeface="Arial"/>
              </a:rPr>
              <a:t>ignore</a:t>
            </a:r>
            <a:r>
              <a:rPr sz="2050" spc="90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60" dirty="0">
                <a:solidFill>
                  <a:srgbClr val="31547B"/>
                </a:solidFill>
                <a:latin typeface="Arial"/>
                <a:cs typeface="Arial"/>
              </a:rPr>
              <a:t>each</a:t>
            </a:r>
            <a:r>
              <a:rPr sz="2050" spc="125" dirty="0">
                <a:solidFill>
                  <a:srgbClr val="31547B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1446B"/>
                </a:solidFill>
                <a:latin typeface="Arial"/>
                <a:cs typeface="Arial"/>
              </a:rPr>
              <a:t>message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EF7F856-3649-1D37-98E8-9F1301192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776" y="221333"/>
            <a:ext cx="3366770" cy="39241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 CAN Characteristics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AN protoc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-9525"/>
            <a:ext cx="3200400" cy="211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4"/>
          </p:nvPr>
        </p:nvSpPr>
        <p:spPr>
          <a:xfrm>
            <a:off x="292100" y="2200276"/>
            <a:ext cx="5638800" cy="2123658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1 is a recessive state. To transmit 1 on CAN bus, both CAN high and CAN low should be applied with 2.5V.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0 is a dominant state. To transmit 0 on CAN bus, CAN high should be applied at 3.5V and CAN low should be applied at 1.5V.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ideal state of the bus is recessive.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node reaches the dominant state, it cannot move back to the recessive state by any other node.</a:t>
            </a:r>
          </a:p>
          <a:p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717180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573" y="2941056"/>
            <a:ext cx="5210175" cy="177381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1275"/>
              </a:spcBef>
            </a:pPr>
            <a:endParaRPr lang="en-US" sz="1800" dirty="0"/>
          </a:p>
          <a:p>
            <a:pPr marL="240665" marR="441959" indent="-228600">
              <a:lnSpc>
                <a:spcPct val="104500"/>
              </a:lnSpc>
              <a:buChar char="•"/>
              <a:tabLst>
                <a:tab pos="248285" algn="l"/>
              </a:tabLst>
            </a:pPr>
            <a:r>
              <a:rPr lang="en-US" sz="1800" spc="65" dirty="0">
                <a:solidFill>
                  <a:srgbClr val="2D5077"/>
                </a:solidFill>
              </a:rPr>
              <a:t>The</a:t>
            </a:r>
            <a:r>
              <a:rPr lang="en-US" sz="1800" spc="60" dirty="0">
                <a:solidFill>
                  <a:srgbClr val="2D5077"/>
                </a:solidFill>
              </a:rPr>
              <a:t> </a:t>
            </a:r>
            <a:r>
              <a:rPr lang="en-US" sz="1800" dirty="0">
                <a:solidFill>
                  <a:srgbClr val="2D5077"/>
                </a:solidFill>
              </a:rPr>
              <a:t>maximum</a:t>
            </a:r>
            <a:r>
              <a:rPr lang="en-US" sz="1800" spc="254" dirty="0">
                <a:solidFill>
                  <a:srgbClr val="2D5077"/>
                </a:solidFill>
              </a:rPr>
              <a:t> </a:t>
            </a:r>
            <a:r>
              <a:rPr lang="en-US" sz="1800" dirty="0">
                <a:solidFill>
                  <a:srgbClr val="2D5077"/>
                </a:solidFill>
              </a:rPr>
              <a:t>number</a:t>
            </a:r>
            <a:r>
              <a:rPr lang="en-US" sz="1800" spc="215" dirty="0">
                <a:solidFill>
                  <a:srgbClr val="2D5077"/>
                </a:solidFill>
              </a:rPr>
              <a:t> </a:t>
            </a:r>
            <a:r>
              <a:rPr lang="en-US" sz="1800" spc="65" dirty="0">
                <a:solidFill>
                  <a:srgbClr val="2D5077"/>
                </a:solidFill>
              </a:rPr>
              <a:t>of</a:t>
            </a:r>
            <a:r>
              <a:rPr lang="en-US" sz="1800" spc="30" dirty="0">
                <a:solidFill>
                  <a:srgbClr val="2D5077"/>
                </a:solidFill>
              </a:rPr>
              <a:t> </a:t>
            </a:r>
            <a:r>
              <a:rPr lang="en-US" sz="1800" dirty="0">
                <a:solidFill>
                  <a:srgbClr val="2D5077"/>
                </a:solidFill>
              </a:rPr>
              <a:t>nodes</a:t>
            </a:r>
            <a:r>
              <a:rPr lang="en-US" sz="1800" spc="130" dirty="0">
                <a:solidFill>
                  <a:srgbClr val="2D5077"/>
                </a:solidFill>
              </a:rPr>
              <a:t> </a:t>
            </a:r>
            <a:r>
              <a:rPr lang="en-US" sz="1800" spc="80" dirty="0">
                <a:solidFill>
                  <a:srgbClr val="2D5077"/>
                </a:solidFill>
              </a:rPr>
              <a:t>is</a:t>
            </a:r>
            <a:r>
              <a:rPr lang="en-US" sz="1800" spc="105" dirty="0">
                <a:solidFill>
                  <a:srgbClr val="2D5077"/>
                </a:solidFill>
              </a:rPr>
              <a:t> </a:t>
            </a:r>
            <a:r>
              <a:rPr lang="en-US" sz="1800" spc="35" dirty="0">
                <a:solidFill>
                  <a:srgbClr val="2D5077"/>
                </a:solidFill>
              </a:rPr>
              <a:t>not 	</a:t>
            </a:r>
            <a:r>
              <a:rPr lang="en-US" sz="1800" spc="-10" dirty="0">
                <a:solidFill>
                  <a:srgbClr val="2D5077"/>
                </a:solidFill>
              </a:rPr>
              <a:t>specified.</a:t>
            </a:r>
            <a:endParaRPr lang="en-US" sz="1800" dirty="0"/>
          </a:p>
          <a:p>
            <a:pPr marL="245745" marR="5080" indent="-233679">
              <a:lnSpc>
                <a:spcPct val="104500"/>
              </a:lnSpc>
              <a:spcBef>
                <a:spcPts val="530"/>
              </a:spcBef>
              <a:buChar char="•"/>
              <a:tabLst>
                <a:tab pos="248920" algn="l"/>
              </a:tabLst>
            </a:pPr>
            <a:r>
              <a:rPr lang="en-US" sz="1800" dirty="0">
                <a:solidFill>
                  <a:srgbClr val="2D5077"/>
                </a:solidFill>
              </a:rPr>
              <a:t>Networks</a:t>
            </a:r>
            <a:r>
              <a:rPr lang="en-US" sz="1800" spc="280" dirty="0">
                <a:solidFill>
                  <a:srgbClr val="2D5077"/>
                </a:solidFill>
              </a:rPr>
              <a:t> </a:t>
            </a:r>
            <a:r>
              <a:rPr lang="en-US" sz="1800" dirty="0">
                <a:solidFill>
                  <a:srgbClr val="2D5077"/>
                </a:solidFill>
              </a:rPr>
              <a:t>are</a:t>
            </a:r>
            <a:r>
              <a:rPr lang="en-US" sz="1800" spc="95" dirty="0">
                <a:solidFill>
                  <a:srgbClr val="2D5077"/>
                </a:solidFill>
              </a:rPr>
              <a:t> </a:t>
            </a:r>
            <a:r>
              <a:rPr lang="en-US" sz="1800" dirty="0">
                <a:solidFill>
                  <a:srgbClr val="2D5077"/>
                </a:solidFill>
              </a:rPr>
              <a:t>limited</a:t>
            </a:r>
            <a:r>
              <a:rPr lang="en-US" sz="1800" spc="200" dirty="0">
                <a:solidFill>
                  <a:srgbClr val="2D5077"/>
                </a:solidFill>
              </a:rPr>
              <a:t> </a:t>
            </a:r>
            <a:r>
              <a:rPr lang="en-US" sz="1800" spc="60" dirty="0">
                <a:solidFill>
                  <a:srgbClr val="2D5077"/>
                </a:solidFill>
              </a:rPr>
              <a:t>by</a:t>
            </a:r>
            <a:r>
              <a:rPr lang="en-US" sz="1800" spc="135" dirty="0">
                <a:solidFill>
                  <a:srgbClr val="2D5077"/>
                </a:solidFill>
              </a:rPr>
              <a:t> </a:t>
            </a:r>
            <a:r>
              <a:rPr lang="en-US" sz="1800" dirty="0">
                <a:solidFill>
                  <a:srgbClr val="2D5077"/>
                </a:solidFill>
              </a:rPr>
              <a:t>electrical</a:t>
            </a:r>
            <a:r>
              <a:rPr lang="en-US" sz="1800" spc="229" dirty="0">
                <a:solidFill>
                  <a:srgbClr val="2D5077"/>
                </a:solidFill>
              </a:rPr>
              <a:t> </a:t>
            </a:r>
            <a:r>
              <a:rPr lang="en-US" sz="1800" spc="-10" dirty="0">
                <a:solidFill>
                  <a:srgbClr val="2D5077"/>
                </a:solidFill>
              </a:rPr>
              <a:t>loading</a:t>
            </a:r>
            <a:r>
              <a:rPr lang="en-US" sz="1800" spc="-10" dirty="0">
                <a:solidFill>
                  <a:srgbClr val="5D7289"/>
                </a:solidFill>
              </a:rPr>
              <a:t>, 	</a:t>
            </a:r>
            <a:r>
              <a:rPr lang="en-US" sz="1800" dirty="0">
                <a:solidFill>
                  <a:srgbClr val="2D5077"/>
                </a:solidFill>
              </a:rPr>
              <a:t>up</a:t>
            </a:r>
            <a:r>
              <a:rPr lang="en-US" sz="1800" spc="20" dirty="0">
                <a:solidFill>
                  <a:srgbClr val="2D5077"/>
                </a:solidFill>
              </a:rPr>
              <a:t> </a:t>
            </a:r>
            <a:r>
              <a:rPr lang="en-US" sz="1800" dirty="0">
                <a:solidFill>
                  <a:srgbClr val="2D5077"/>
                </a:solidFill>
              </a:rPr>
              <a:t>to</a:t>
            </a:r>
            <a:r>
              <a:rPr lang="en-US" sz="1800" spc="180" dirty="0">
                <a:solidFill>
                  <a:srgbClr val="2D5077"/>
                </a:solidFill>
              </a:rPr>
              <a:t> </a:t>
            </a:r>
            <a:r>
              <a:rPr lang="en-US" sz="1800" spc="50" dirty="0">
                <a:solidFill>
                  <a:srgbClr val="2D5077"/>
                </a:solidFill>
              </a:rPr>
              <a:t>64</a:t>
            </a:r>
            <a:r>
              <a:rPr lang="en-US" sz="1800" spc="40" dirty="0">
                <a:solidFill>
                  <a:srgbClr val="2D5077"/>
                </a:solidFill>
              </a:rPr>
              <a:t> </a:t>
            </a:r>
            <a:r>
              <a:rPr lang="en-US" sz="1800" dirty="0">
                <a:solidFill>
                  <a:srgbClr val="2D5077"/>
                </a:solidFill>
              </a:rPr>
              <a:t>nodes</a:t>
            </a:r>
            <a:r>
              <a:rPr lang="en-US" sz="1800" spc="70" dirty="0">
                <a:solidFill>
                  <a:srgbClr val="2D5077"/>
                </a:solidFill>
              </a:rPr>
              <a:t> </a:t>
            </a:r>
            <a:r>
              <a:rPr lang="en-US" sz="1800" spc="80" dirty="0">
                <a:solidFill>
                  <a:srgbClr val="2D5077"/>
                </a:solidFill>
              </a:rPr>
              <a:t>is</a:t>
            </a:r>
            <a:r>
              <a:rPr lang="en-US" sz="1800" spc="45" dirty="0">
                <a:solidFill>
                  <a:srgbClr val="2D5077"/>
                </a:solidFill>
              </a:rPr>
              <a:t> </a:t>
            </a:r>
            <a:r>
              <a:rPr lang="en-US" sz="1800" spc="-10" dirty="0">
                <a:solidFill>
                  <a:srgbClr val="2D5077"/>
                </a:solidFill>
              </a:rPr>
              <a:t>normal</a:t>
            </a:r>
            <a:endParaRPr lang="en-US" sz="1800" dirty="0"/>
          </a:p>
          <a:p>
            <a:endParaRPr lang="en-IN" dirty="0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49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9636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100" dirty="0">
                <a:solidFill>
                  <a:srgbClr val="828E97"/>
                </a:solidFill>
                <a:latin typeface="Times New Roman"/>
                <a:cs typeface="Times New Roman"/>
              </a:rPr>
              <a:t>•</a:t>
            </a:r>
            <a:r>
              <a:rPr sz="1100" spc="-55" dirty="0">
                <a:solidFill>
                  <a:srgbClr val="828E97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100" dirty="0">
                <a:solidFill>
                  <a:srgbClr val="828E97"/>
                </a:solidFill>
                <a:latin typeface="Times New Roman"/>
                <a:cs typeface="Times New Roman"/>
              </a:rPr>
              <a:t>8</a:t>
            </a:fld>
            <a:r>
              <a:rPr sz="1100" spc="-114" dirty="0">
                <a:solidFill>
                  <a:srgbClr val="828E97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828E97"/>
                </a:solidFill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183674" y="242538"/>
            <a:ext cx="3067050" cy="389209"/>
          </a:xfrm>
          <a:prstGeom prst="rect">
            <a:avLst/>
          </a:prstGeom>
          <a:solidFill>
            <a:srgbClr val="0F6DA0"/>
          </a:solidFill>
        </p:spPr>
        <p:txBody>
          <a:bodyPr vert="horz" wrap="square" lIns="0" tIns="196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5"/>
              </a:spcBef>
            </a:pPr>
            <a:r>
              <a:rPr sz="2400" b="1" spc="114" dirty="0">
                <a:latin typeface="Arial"/>
                <a:cs typeface="Arial"/>
              </a:rPr>
              <a:t>CAN</a:t>
            </a:r>
            <a:r>
              <a:rPr lang="en-US" sz="2400" b="1" spc="-10" dirty="0">
                <a:latin typeface="Arial"/>
                <a:cs typeface="Arial"/>
              </a:rPr>
              <a:t> data rate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51399" y="1217021"/>
            <a:ext cx="2596515" cy="3486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spc="65" dirty="0">
                <a:solidFill>
                  <a:srgbClr val="315479"/>
                </a:solidFill>
                <a:latin typeface="Arial"/>
                <a:cs typeface="Arial"/>
              </a:rPr>
              <a:t>Bit</a:t>
            </a:r>
            <a:r>
              <a:rPr sz="2000" spc="-2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315479"/>
                </a:solidFill>
                <a:latin typeface="Arial"/>
                <a:cs typeface="Arial"/>
              </a:rPr>
              <a:t>Rate</a:t>
            </a:r>
            <a:r>
              <a:rPr sz="2000" spc="-85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100" i="1" dirty="0">
                <a:solidFill>
                  <a:srgbClr val="315479"/>
                </a:solidFill>
                <a:latin typeface="Arial"/>
                <a:cs typeface="Arial"/>
              </a:rPr>
              <a:t>I</a:t>
            </a:r>
            <a:r>
              <a:rPr sz="2100" i="1" spc="6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114" dirty="0">
                <a:solidFill>
                  <a:srgbClr val="21446D"/>
                </a:solidFill>
                <a:latin typeface="Arial"/>
                <a:cs typeface="Arial"/>
              </a:rPr>
              <a:t>Bus</a:t>
            </a:r>
            <a:r>
              <a:rPr sz="2000" spc="-60" dirty="0">
                <a:solidFill>
                  <a:srgbClr val="21446D"/>
                </a:solidFill>
                <a:latin typeface="Arial"/>
                <a:cs typeface="Arial"/>
              </a:rPr>
              <a:t> </a:t>
            </a:r>
            <a:r>
              <a:rPr sz="2000" spc="55" dirty="0">
                <a:solidFill>
                  <a:srgbClr val="21446D"/>
                </a:solidFill>
                <a:latin typeface="Arial"/>
                <a:cs typeface="Arial"/>
              </a:rPr>
              <a:t>Length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0985" y="1527573"/>
            <a:ext cx="1595120" cy="161988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indent="314960" algn="just">
              <a:lnSpc>
                <a:spcPct val="130200"/>
              </a:lnSpc>
              <a:spcBef>
                <a:spcPts val="145"/>
              </a:spcBef>
            </a:pPr>
            <a:r>
              <a:rPr sz="2000" spc="55" dirty="0">
                <a:solidFill>
                  <a:srgbClr val="21446D"/>
                </a:solidFill>
                <a:latin typeface="Arial"/>
                <a:cs typeface="Arial"/>
              </a:rPr>
              <a:t>1</a:t>
            </a:r>
            <a:r>
              <a:rPr sz="2000" spc="55" dirty="0">
                <a:solidFill>
                  <a:srgbClr val="315479"/>
                </a:solidFill>
                <a:latin typeface="Arial"/>
                <a:cs typeface="Arial"/>
              </a:rPr>
              <a:t>M</a:t>
            </a:r>
            <a:r>
              <a:rPr sz="2000" spc="9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1446D"/>
                </a:solidFill>
                <a:latin typeface="Arial"/>
                <a:cs typeface="Arial"/>
              </a:rPr>
              <a:t>bit/sec </a:t>
            </a:r>
            <a:r>
              <a:rPr sz="2000" spc="65" dirty="0">
                <a:solidFill>
                  <a:srgbClr val="315479"/>
                </a:solidFill>
                <a:latin typeface="Arial"/>
                <a:cs typeface="Arial"/>
              </a:rPr>
              <a:t>500K</a:t>
            </a:r>
            <a:r>
              <a:rPr sz="2000" spc="1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315479"/>
                </a:solidFill>
                <a:latin typeface="Arial"/>
                <a:cs typeface="Arial"/>
              </a:rPr>
              <a:t>bit/sec </a:t>
            </a:r>
            <a:r>
              <a:rPr sz="2000" spc="75" dirty="0">
                <a:solidFill>
                  <a:srgbClr val="315479"/>
                </a:solidFill>
                <a:latin typeface="Arial"/>
                <a:cs typeface="Arial"/>
              </a:rPr>
              <a:t>250K</a:t>
            </a:r>
            <a:r>
              <a:rPr sz="2000" spc="30" dirty="0">
                <a:solidFill>
                  <a:srgbClr val="315479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315479"/>
                </a:solidFill>
                <a:latin typeface="Arial"/>
                <a:cs typeface="Arial"/>
              </a:rPr>
              <a:t>bit/sec </a:t>
            </a:r>
            <a:r>
              <a:rPr sz="2000" spc="65" dirty="0">
                <a:solidFill>
                  <a:srgbClr val="21446D"/>
                </a:solidFill>
                <a:latin typeface="Arial"/>
                <a:cs typeface="Arial"/>
              </a:rPr>
              <a:t>125K</a:t>
            </a:r>
            <a:r>
              <a:rPr sz="2000" spc="20" dirty="0">
                <a:solidFill>
                  <a:srgbClr val="21446D"/>
                </a:solidFill>
                <a:latin typeface="Arial"/>
                <a:cs typeface="Arial"/>
              </a:rPr>
              <a:t>  </a:t>
            </a:r>
            <a:r>
              <a:rPr sz="2000" spc="-10" dirty="0">
                <a:solidFill>
                  <a:srgbClr val="315479"/>
                </a:solidFill>
                <a:latin typeface="Arial"/>
                <a:cs typeface="Arial"/>
              </a:rPr>
              <a:t>bit/sec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92554" y="1527573"/>
            <a:ext cx="2787650" cy="161988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2000" spc="60" dirty="0">
                <a:solidFill>
                  <a:srgbClr val="315479"/>
                </a:solidFill>
                <a:latin typeface="Arial"/>
                <a:cs typeface="Arial"/>
              </a:rPr>
              <a:t>40 </a:t>
            </a:r>
            <a:r>
              <a:rPr sz="2000" spc="70" dirty="0">
                <a:solidFill>
                  <a:srgbClr val="315479"/>
                </a:solidFill>
                <a:latin typeface="Arial"/>
                <a:cs typeface="Arial"/>
              </a:rPr>
              <a:t>meters</a:t>
            </a:r>
            <a:r>
              <a:rPr sz="2000" spc="5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70" dirty="0">
                <a:solidFill>
                  <a:srgbClr val="315479"/>
                </a:solidFill>
                <a:latin typeface="Arial"/>
                <a:cs typeface="Arial"/>
              </a:rPr>
              <a:t>(</a:t>
            </a:r>
            <a:r>
              <a:rPr sz="2000" spc="70" dirty="0">
                <a:solidFill>
                  <a:srgbClr val="21446D"/>
                </a:solidFill>
                <a:latin typeface="Arial"/>
                <a:cs typeface="Arial"/>
              </a:rPr>
              <a:t>131</a:t>
            </a:r>
            <a:r>
              <a:rPr sz="2000" spc="-15" dirty="0">
                <a:solidFill>
                  <a:srgbClr val="21446D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315479"/>
                </a:solidFill>
                <a:latin typeface="Arial"/>
                <a:cs typeface="Arial"/>
              </a:rPr>
              <a:t>feet)</a:t>
            </a:r>
            <a:endParaRPr sz="20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780"/>
              </a:spcBef>
            </a:pPr>
            <a:r>
              <a:rPr sz="2000" spc="70" dirty="0">
                <a:solidFill>
                  <a:srgbClr val="315479"/>
                </a:solidFill>
                <a:latin typeface="Arial"/>
                <a:cs typeface="Arial"/>
              </a:rPr>
              <a:t>100</a:t>
            </a:r>
            <a:r>
              <a:rPr sz="2000" spc="2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315479"/>
                </a:solidFill>
                <a:latin typeface="Arial"/>
                <a:cs typeface="Arial"/>
              </a:rPr>
              <a:t>meters</a:t>
            </a:r>
            <a:r>
              <a:rPr sz="2000" spc="114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315479"/>
                </a:solidFill>
                <a:latin typeface="Arial"/>
                <a:cs typeface="Arial"/>
              </a:rPr>
              <a:t>(328</a:t>
            </a:r>
            <a:r>
              <a:rPr sz="200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315479"/>
                </a:solidFill>
                <a:latin typeface="Arial"/>
                <a:cs typeface="Arial"/>
              </a:rPr>
              <a:t>feet)</a:t>
            </a:r>
            <a:endParaRPr sz="20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700"/>
              </a:spcBef>
            </a:pPr>
            <a:r>
              <a:rPr sz="2000" spc="60" dirty="0">
                <a:solidFill>
                  <a:srgbClr val="315479"/>
                </a:solidFill>
                <a:latin typeface="Arial"/>
                <a:cs typeface="Arial"/>
              </a:rPr>
              <a:t>200</a:t>
            </a:r>
            <a:r>
              <a:rPr sz="2000" spc="45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315479"/>
                </a:solidFill>
                <a:latin typeface="Arial"/>
                <a:cs typeface="Arial"/>
              </a:rPr>
              <a:t>meters</a:t>
            </a:r>
            <a:r>
              <a:rPr sz="2000" spc="11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315479"/>
                </a:solidFill>
                <a:latin typeface="Arial"/>
                <a:cs typeface="Arial"/>
              </a:rPr>
              <a:t>(656</a:t>
            </a:r>
            <a:r>
              <a:rPr sz="2000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45" dirty="0">
                <a:solidFill>
                  <a:srgbClr val="315479"/>
                </a:solidFill>
                <a:latin typeface="Arial"/>
                <a:cs typeface="Arial"/>
              </a:rPr>
              <a:t>feet)</a:t>
            </a:r>
            <a:endParaRPr sz="2000">
              <a:latin typeface="Arial"/>
              <a:cs typeface="Arial"/>
            </a:endParaRPr>
          </a:p>
          <a:p>
            <a:pPr marL="14604">
              <a:lnSpc>
                <a:spcPct val="100000"/>
              </a:lnSpc>
              <a:spcBef>
                <a:spcPts val="700"/>
              </a:spcBef>
            </a:pPr>
            <a:r>
              <a:rPr sz="2000" spc="70" dirty="0">
                <a:solidFill>
                  <a:srgbClr val="315479"/>
                </a:solidFill>
                <a:latin typeface="Arial"/>
                <a:cs typeface="Arial"/>
              </a:rPr>
              <a:t>500</a:t>
            </a:r>
            <a:r>
              <a:rPr sz="2000" spc="45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315479"/>
                </a:solidFill>
                <a:latin typeface="Arial"/>
                <a:cs typeface="Arial"/>
              </a:rPr>
              <a:t>meters</a:t>
            </a:r>
            <a:r>
              <a:rPr sz="2000" spc="114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315479"/>
                </a:solidFill>
                <a:latin typeface="Arial"/>
                <a:cs typeface="Arial"/>
              </a:rPr>
              <a:t>(1640</a:t>
            </a:r>
            <a:r>
              <a:rPr sz="2000" spc="-65" dirty="0">
                <a:solidFill>
                  <a:srgbClr val="315479"/>
                </a:solidFill>
                <a:latin typeface="Arial"/>
                <a:cs typeface="Arial"/>
              </a:rPr>
              <a:t> </a:t>
            </a:r>
            <a:r>
              <a:rPr sz="2000" spc="65" dirty="0">
                <a:solidFill>
                  <a:srgbClr val="315479"/>
                </a:solidFill>
                <a:latin typeface="Arial"/>
                <a:cs typeface="Arial"/>
              </a:rPr>
              <a:t>feet)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9636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100" dirty="0">
                <a:solidFill>
                  <a:srgbClr val="828E97"/>
                </a:solidFill>
                <a:latin typeface="Times New Roman"/>
                <a:cs typeface="Times New Roman"/>
              </a:rPr>
              <a:t>•</a:t>
            </a:r>
            <a:r>
              <a:rPr sz="1100" spc="-55" dirty="0">
                <a:solidFill>
                  <a:srgbClr val="828E97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1100" dirty="0">
                <a:solidFill>
                  <a:srgbClr val="828E97"/>
                </a:solidFill>
                <a:latin typeface="Times New Roman"/>
                <a:cs typeface="Times New Roman"/>
              </a:rPr>
              <a:t>9</a:t>
            </a:fld>
            <a:r>
              <a:rPr sz="1100" spc="-114" dirty="0">
                <a:solidFill>
                  <a:srgbClr val="828E97"/>
                </a:solidFill>
                <a:latin typeface="Times New Roman"/>
                <a:cs typeface="Times New Roman"/>
              </a:rPr>
              <a:t> </a:t>
            </a:r>
            <a:r>
              <a:rPr sz="1100" spc="-50" dirty="0">
                <a:solidFill>
                  <a:srgbClr val="828E97"/>
                </a:solidFill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7218" y="837314"/>
            <a:ext cx="4338955" cy="337121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585"/>
              </a:spcBef>
            </a:pPr>
            <a:r>
              <a:rPr sz="2050" spc="50" dirty="0">
                <a:solidFill>
                  <a:srgbClr val="234972"/>
                </a:solidFill>
                <a:latin typeface="Arial"/>
                <a:cs typeface="Arial"/>
              </a:rPr>
              <a:t>Four</a:t>
            </a:r>
            <a:r>
              <a:rPr sz="2050" spc="105" dirty="0">
                <a:solidFill>
                  <a:srgbClr val="234972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3A597E"/>
                </a:solidFill>
                <a:latin typeface="Arial"/>
                <a:cs typeface="Arial"/>
              </a:rPr>
              <a:t>Message</a:t>
            </a:r>
            <a:r>
              <a:rPr sz="2050" spc="210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34972"/>
                </a:solidFill>
                <a:latin typeface="Arial"/>
                <a:cs typeface="Arial"/>
              </a:rPr>
              <a:t>Types</a:t>
            </a:r>
            <a:endParaRPr sz="2050" dirty="0">
              <a:latin typeface="Arial"/>
              <a:cs typeface="Arial"/>
            </a:endParaRPr>
          </a:p>
          <a:p>
            <a:pPr marL="245745" indent="-233045">
              <a:lnSpc>
                <a:spcPct val="100000"/>
              </a:lnSpc>
              <a:spcBef>
                <a:spcPts val="490"/>
              </a:spcBef>
              <a:buChar char="•"/>
              <a:tabLst>
                <a:tab pos="245745" algn="l"/>
              </a:tabLst>
            </a:pPr>
            <a:r>
              <a:rPr sz="2050" dirty="0">
                <a:solidFill>
                  <a:srgbClr val="234972"/>
                </a:solidFill>
                <a:latin typeface="Arial"/>
                <a:cs typeface="Arial"/>
              </a:rPr>
              <a:t>Data</a:t>
            </a:r>
            <a:r>
              <a:rPr sz="2050" spc="170" dirty="0">
                <a:solidFill>
                  <a:srgbClr val="234972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34972"/>
                </a:solidFill>
                <a:latin typeface="Arial"/>
                <a:cs typeface="Arial"/>
              </a:rPr>
              <a:t>Frame</a:t>
            </a:r>
            <a:endParaRPr sz="2050" dirty="0">
              <a:latin typeface="Arial"/>
              <a:cs typeface="Arial"/>
            </a:endParaRPr>
          </a:p>
          <a:p>
            <a:pPr marL="506095" lvl="1" indent="-199390">
              <a:lnSpc>
                <a:spcPct val="100000"/>
              </a:lnSpc>
              <a:spcBef>
                <a:spcPts val="210"/>
              </a:spcBef>
              <a:buClr>
                <a:srgbClr val="234972"/>
              </a:buClr>
              <a:buChar char="-"/>
              <a:tabLst>
                <a:tab pos="506095" algn="l"/>
              </a:tabLst>
            </a:pP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Used</a:t>
            </a:r>
            <a:r>
              <a:rPr sz="1800" spc="15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3A597E"/>
                </a:solidFill>
                <a:latin typeface="Arial"/>
                <a:cs typeface="Arial"/>
              </a:rPr>
              <a:t>to</a:t>
            </a:r>
            <a:r>
              <a:rPr sz="1800" spc="-1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transmit</a:t>
            </a:r>
            <a:r>
              <a:rPr sz="1800" spc="18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3A597E"/>
                </a:solidFill>
                <a:latin typeface="Arial"/>
                <a:cs typeface="Arial"/>
              </a:rPr>
              <a:t>data</a:t>
            </a:r>
            <a:endParaRPr sz="1800" dirty="0">
              <a:latin typeface="Arial"/>
              <a:cs typeface="Arial"/>
            </a:endParaRPr>
          </a:p>
          <a:p>
            <a:pPr marL="245110" indent="-232410">
              <a:lnSpc>
                <a:spcPct val="100000"/>
              </a:lnSpc>
              <a:spcBef>
                <a:spcPts val="540"/>
              </a:spcBef>
              <a:buClr>
                <a:srgbClr val="234972"/>
              </a:buClr>
              <a:buChar char="•"/>
              <a:tabLst>
                <a:tab pos="245110" algn="l"/>
              </a:tabLst>
            </a:pPr>
            <a:r>
              <a:rPr sz="2050" dirty="0">
                <a:solidFill>
                  <a:srgbClr val="3A597E"/>
                </a:solidFill>
                <a:latin typeface="Arial"/>
                <a:cs typeface="Arial"/>
              </a:rPr>
              <a:t>Remote</a:t>
            </a:r>
            <a:r>
              <a:rPr sz="2050" spc="24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2050" spc="-20" dirty="0">
                <a:solidFill>
                  <a:srgbClr val="234972"/>
                </a:solidFill>
                <a:latin typeface="Arial"/>
                <a:cs typeface="Arial"/>
              </a:rPr>
              <a:t>Frame</a:t>
            </a:r>
            <a:endParaRPr sz="2050" dirty="0">
              <a:latin typeface="Arial"/>
              <a:cs typeface="Arial"/>
            </a:endParaRPr>
          </a:p>
          <a:p>
            <a:pPr marL="506095" lvl="1" indent="-199390">
              <a:lnSpc>
                <a:spcPct val="100000"/>
              </a:lnSpc>
              <a:spcBef>
                <a:spcPts val="210"/>
              </a:spcBef>
              <a:buChar char="-"/>
              <a:tabLst>
                <a:tab pos="506095" algn="l"/>
              </a:tabLst>
            </a:pP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Used</a:t>
            </a:r>
            <a:r>
              <a:rPr sz="1800" spc="13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spc="70" dirty="0">
                <a:solidFill>
                  <a:srgbClr val="3A597E"/>
                </a:solidFill>
                <a:latin typeface="Arial"/>
                <a:cs typeface="Arial"/>
              </a:rPr>
              <a:t>to</a:t>
            </a:r>
            <a:r>
              <a:rPr sz="1800" spc="-4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request</a:t>
            </a:r>
            <a:r>
              <a:rPr sz="1800" spc="22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data</a:t>
            </a:r>
            <a:r>
              <a:rPr sz="1800" spc="100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A597E"/>
                </a:solidFill>
                <a:latin typeface="Arial"/>
                <a:cs typeface="Arial"/>
              </a:rPr>
              <a:t>transmission</a:t>
            </a:r>
            <a:endParaRPr sz="1800" dirty="0">
              <a:latin typeface="Arial"/>
              <a:cs typeface="Arial"/>
            </a:endParaRPr>
          </a:p>
          <a:p>
            <a:pPr marL="245110" indent="-232410">
              <a:lnSpc>
                <a:spcPct val="100000"/>
              </a:lnSpc>
              <a:spcBef>
                <a:spcPts val="385"/>
              </a:spcBef>
              <a:buChar char="•"/>
              <a:tabLst>
                <a:tab pos="245110" algn="l"/>
              </a:tabLst>
            </a:pPr>
            <a:r>
              <a:rPr sz="2050" dirty="0">
                <a:solidFill>
                  <a:srgbClr val="234972"/>
                </a:solidFill>
                <a:latin typeface="Arial"/>
                <a:cs typeface="Arial"/>
              </a:rPr>
              <a:t>Error</a:t>
            </a:r>
            <a:r>
              <a:rPr sz="2050" spc="195" dirty="0">
                <a:solidFill>
                  <a:srgbClr val="234972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34972"/>
                </a:solidFill>
                <a:latin typeface="Arial"/>
                <a:cs typeface="Arial"/>
              </a:rPr>
              <a:t>Frame</a:t>
            </a:r>
            <a:endParaRPr sz="2050" dirty="0">
              <a:latin typeface="Arial"/>
              <a:cs typeface="Arial"/>
            </a:endParaRPr>
          </a:p>
          <a:p>
            <a:pPr marL="513715" lvl="1" indent="-197485">
              <a:lnSpc>
                <a:spcPct val="100000"/>
              </a:lnSpc>
              <a:spcBef>
                <a:spcPts val="365"/>
              </a:spcBef>
              <a:buChar char="-"/>
              <a:tabLst>
                <a:tab pos="513715" algn="l"/>
              </a:tabLst>
            </a:pP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Sent</a:t>
            </a:r>
            <a:r>
              <a:rPr sz="1800" spc="7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by</a:t>
            </a:r>
            <a:r>
              <a:rPr sz="1800" spc="8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a</a:t>
            </a:r>
            <a:r>
              <a:rPr sz="1800" spc="18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node</a:t>
            </a:r>
            <a:r>
              <a:rPr sz="1800" spc="114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that</a:t>
            </a:r>
            <a:r>
              <a:rPr sz="1800" spc="1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detects</a:t>
            </a:r>
            <a:r>
              <a:rPr sz="1800" spc="95" dirty="0">
                <a:solidFill>
                  <a:srgbClr val="3A597E"/>
                </a:solidFill>
                <a:latin typeface="Arial"/>
                <a:cs typeface="Arial"/>
              </a:rPr>
              <a:t> an</a:t>
            </a:r>
            <a:r>
              <a:rPr sz="1800" spc="20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3A597E"/>
                </a:solidFill>
                <a:latin typeface="Arial"/>
                <a:cs typeface="Arial"/>
              </a:rPr>
              <a:t>error</a:t>
            </a:r>
            <a:endParaRPr sz="1800" dirty="0">
              <a:latin typeface="Arial"/>
              <a:cs typeface="Arial"/>
            </a:endParaRPr>
          </a:p>
          <a:p>
            <a:pPr marL="243840" indent="-231140">
              <a:lnSpc>
                <a:spcPct val="100000"/>
              </a:lnSpc>
              <a:spcBef>
                <a:spcPts val="459"/>
              </a:spcBef>
              <a:buClr>
                <a:srgbClr val="234972"/>
              </a:buClr>
              <a:buChar char="•"/>
              <a:tabLst>
                <a:tab pos="243840" algn="l"/>
              </a:tabLst>
            </a:pPr>
            <a:r>
              <a:rPr sz="2050" dirty="0">
                <a:solidFill>
                  <a:srgbClr val="3A597E"/>
                </a:solidFill>
                <a:latin typeface="Arial"/>
                <a:cs typeface="Arial"/>
              </a:rPr>
              <a:t>Overload</a:t>
            </a:r>
            <a:r>
              <a:rPr sz="2050" spc="300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34972"/>
                </a:solidFill>
                <a:latin typeface="Arial"/>
                <a:cs typeface="Arial"/>
              </a:rPr>
              <a:t>Frame</a:t>
            </a:r>
            <a:endParaRPr sz="2050" dirty="0">
              <a:latin typeface="Arial"/>
              <a:cs typeface="Arial"/>
            </a:endParaRPr>
          </a:p>
          <a:p>
            <a:pPr marL="511175" marR="5080" lvl="1" indent="-205104">
              <a:lnSpc>
                <a:spcPts val="2039"/>
              </a:lnSpc>
              <a:spcBef>
                <a:spcPts val="380"/>
              </a:spcBef>
              <a:buChar char="-"/>
              <a:tabLst>
                <a:tab pos="511175" algn="l"/>
                <a:tab pos="514350" algn="l"/>
              </a:tabLst>
            </a:pP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	Sent</a:t>
            </a:r>
            <a:r>
              <a:rPr sz="1800" spc="5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spc="75" dirty="0">
                <a:solidFill>
                  <a:srgbClr val="3A597E"/>
                </a:solidFill>
                <a:latin typeface="Arial"/>
                <a:cs typeface="Arial"/>
              </a:rPr>
              <a:t>by</a:t>
            </a:r>
            <a:r>
              <a:rPr sz="1800" spc="-2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spc="80" dirty="0">
                <a:solidFill>
                  <a:srgbClr val="3A597E"/>
                </a:solidFill>
                <a:latin typeface="Arial"/>
                <a:cs typeface="Arial"/>
              </a:rPr>
              <a:t>a</a:t>
            </a:r>
            <a:r>
              <a:rPr sz="1800" spc="110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node</a:t>
            </a:r>
            <a:r>
              <a:rPr sz="1800" spc="9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to</a:t>
            </a:r>
            <a:r>
              <a:rPr sz="1800" spc="1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request</a:t>
            </a:r>
            <a:r>
              <a:rPr sz="1800" spc="90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a</a:t>
            </a:r>
            <a:r>
              <a:rPr sz="1800" spc="140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3A597E"/>
                </a:solidFill>
                <a:latin typeface="Arial"/>
                <a:cs typeface="Arial"/>
              </a:rPr>
              <a:t>delay</a:t>
            </a:r>
            <a:r>
              <a:rPr sz="1800" spc="135" dirty="0">
                <a:solidFill>
                  <a:srgbClr val="3A597E"/>
                </a:solidFill>
                <a:latin typeface="Arial"/>
                <a:cs typeface="Arial"/>
              </a:rPr>
              <a:t> </a:t>
            </a:r>
            <a:r>
              <a:rPr sz="1800" spc="25" dirty="0">
                <a:solidFill>
                  <a:srgbClr val="3A597E"/>
                </a:solidFill>
                <a:latin typeface="Arial"/>
                <a:cs typeface="Arial"/>
              </a:rPr>
              <a:t>in </a:t>
            </a:r>
            <a:r>
              <a:rPr sz="1800" spc="-10" dirty="0">
                <a:solidFill>
                  <a:srgbClr val="3A597E"/>
                </a:solidFill>
                <a:latin typeface="Arial"/>
                <a:cs typeface="Arial"/>
              </a:rPr>
              <a:t>transmission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22C5E1-D3D1-0F9C-AD97-7163D446FF4C}"/>
              </a:ext>
            </a:extLst>
          </p:cNvPr>
          <p:cNvSpPr txBox="1"/>
          <p:nvPr/>
        </p:nvSpPr>
        <p:spPr>
          <a:xfrm>
            <a:off x="901700" y="219075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CAN Message Types</a:t>
            </a:r>
            <a:endParaRPr lang="en-IN" sz="2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"/>
            <a:ext cx="6070600" cy="384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232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"/>
            <a:ext cx="6070600" cy="396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156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9622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20"/>
              </a:spcBef>
            </a:pPr>
            <a:r>
              <a:rPr sz="900" dirty="0">
                <a:solidFill>
                  <a:srgbClr val="808A97"/>
                </a:solidFill>
              </a:rPr>
              <a:t>• </a:t>
            </a:r>
            <a:fld id="{81D60167-4931-47E6-BA6A-407CBD079E47}" type="slidenum">
              <a:rPr sz="900" dirty="0">
                <a:solidFill>
                  <a:srgbClr val="808A97"/>
                </a:solidFill>
              </a:rPr>
              <a:t>12</a:t>
            </a:fld>
            <a:r>
              <a:rPr sz="900" spc="60" dirty="0">
                <a:solidFill>
                  <a:srgbClr val="808A97"/>
                </a:solidFill>
              </a:rPr>
              <a:t> </a:t>
            </a:r>
            <a:r>
              <a:rPr sz="900" spc="-50" dirty="0">
                <a:solidFill>
                  <a:srgbClr val="808A97"/>
                </a:solidFill>
              </a:rPr>
              <a:t>•</a:t>
            </a:r>
            <a:endParaRPr sz="900"/>
          </a:p>
        </p:txBody>
      </p:sp>
      <p:sp>
        <p:nvSpPr>
          <p:cNvPr id="10" name="object 10"/>
          <p:cNvSpPr txBox="1"/>
          <p:nvPr/>
        </p:nvSpPr>
        <p:spPr>
          <a:xfrm>
            <a:off x="215900" y="600075"/>
            <a:ext cx="5854700" cy="401725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43204" indent="-230504">
              <a:lnSpc>
                <a:spcPct val="150000"/>
              </a:lnSpc>
              <a:spcBef>
                <a:spcPts val="115"/>
              </a:spcBef>
              <a:buClr>
                <a:srgbClr val="1C4980"/>
              </a:buClr>
              <a:buChar char="•"/>
              <a:tabLst>
                <a:tab pos="243204" algn="l"/>
              </a:tabLst>
            </a:pPr>
            <a:r>
              <a:rPr sz="1750" spc="40" dirty="0">
                <a:solidFill>
                  <a:srgbClr val="3A597B"/>
                </a:solidFill>
                <a:latin typeface="Arial"/>
                <a:cs typeface="Arial"/>
              </a:rPr>
              <a:t>CSMA/CA</a:t>
            </a:r>
            <a:r>
              <a:rPr lang="en-US" sz="1750" spc="40" dirty="0">
                <a:solidFill>
                  <a:srgbClr val="3A597B"/>
                </a:solidFill>
                <a:latin typeface="Arial"/>
                <a:cs typeface="Arial"/>
              </a:rPr>
              <a:t> scheme is employed</a:t>
            </a:r>
            <a:endParaRPr sz="1750" dirty="0">
              <a:latin typeface="Arial"/>
              <a:cs typeface="Arial"/>
            </a:endParaRPr>
          </a:p>
          <a:p>
            <a:pPr marL="245110" indent="-232410">
              <a:lnSpc>
                <a:spcPct val="150000"/>
              </a:lnSpc>
              <a:buClr>
                <a:srgbClr val="1C4980"/>
              </a:buClr>
              <a:buChar char="•"/>
              <a:tabLst>
                <a:tab pos="245110" algn="l"/>
              </a:tabLst>
            </a:pPr>
            <a:r>
              <a:rPr sz="1750" spc="60" dirty="0">
                <a:solidFill>
                  <a:srgbClr val="3A597B"/>
                </a:solidFill>
                <a:latin typeface="Arial"/>
                <a:cs typeface="Arial"/>
              </a:rPr>
              <a:t>All</a:t>
            </a:r>
            <a:r>
              <a:rPr sz="1750" spc="-8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75" dirty="0">
                <a:solidFill>
                  <a:srgbClr val="3A597B"/>
                </a:solidFill>
                <a:latin typeface="Arial"/>
                <a:cs typeface="Arial"/>
              </a:rPr>
              <a:t>nodes</a:t>
            </a:r>
            <a:r>
              <a:rPr sz="1750" spc="15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80" dirty="0">
                <a:solidFill>
                  <a:srgbClr val="3A597B"/>
                </a:solidFill>
                <a:latin typeface="Arial"/>
                <a:cs typeface="Arial"/>
              </a:rPr>
              <a:t>must</a:t>
            </a:r>
            <a:r>
              <a:rPr sz="1750" spc="2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50" dirty="0">
                <a:solidFill>
                  <a:srgbClr val="3A597B"/>
                </a:solidFill>
                <a:latin typeface="Arial"/>
                <a:cs typeface="Arial"/>
              </a:rPr>
              <a:t>wait</a:t>
            </a:r>
            <a:r>
              <a:rPr sz="1750" spc="-5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A597B"/>
                </a:solidFill>
                <a:latin typeface="Arial"/>
                <a:cs typeface="Arial"/>
              </a:rPr>
              <a:t>for</a:t>
            </a:r>
            <a:r>
              <a:rPr sz="1750" spc="8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85" dirty="0">
                <a:solidFill>
                  <a:srgbClr val="3A597B"/>
                </a:solidFill>
                <a:latin typeface="Arial"/>
                <a:cs typeface="Arial"/>
              </a:rPr>
              <a:t>an</a:t>
            </a:r>
            <a:r>
              <a:rPr sz="1750" spc="-1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60" dirty="0">
                <a:solidFill>
                  <a:srgbClr val="3A597B"/>
                </a:solidFill>
                <a:latin typeface="Arial"/>
                <a:cs typeface="Arial"/>
              </a:rPr>
              <a:t>idle</a:t>
            </a:r>
            <a:r>
              <a:rPr sz="1750" spc="-5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80" dirty="0">
                <a:solidFill>
                  <a:srgbClr val="3A597B"/>
                </a:solidFill>
                <a:latin typeface="Arial"/>
                <a:cs typeface="Arial"/>
              </a:rPr>
              <a:t>bus</a:t>
            </a:r>
            <a:r>
              <a:rPr sz="1750" spc="-45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50" dirty="0">
                <a:solidFill>
                  <a:srgbClr val="3A597B"/>
                </a:solidFill>
                <a:latin typeface="Arial"/>
                <a:cs typeface="Arial"/>
              </a:rPr>
              <a:t>condition.</a:t>
            </a:r>
            <a:endParaRPr sz="1750" dirty="0">
              <a:latin typeface="Arial"/>
              <a:cs typeface="Arial"/>
            </a:endParaRPr>
          </a:p>
          <a:p>
            <a:pPr marL="241300" marR="5080" indent="-229235">
              <a:lnSpc>
                <a:spcPct val="150000"/>
              </a:lnSpc>
              <a:buChar char="•"/>
              <a:tabLst>
                <a:tab pos="241300" algn="l"/>
                <a:tab pos="243204" algn="l"/>
              </a:tabLst>
            </a:pPr>
            <a:r>
              <a:rPr sz="1750" dirty="0">
                <a:solidFill>
                  <a:srgbClr val="1C4980"/>
                </a:solidFill>
                <a:latin typeface="Arial"/>
                <a:cs typeface="Arial"/>
              </a:rPr>
              <a:t>	</a:t>
            </a:r>
            <a:r>
              <a:rPr sz="1750" dirty="0">
                <a:solidFill>
                  <a:srgbClr val="1D3F64"/>
                </a:solidFill>
                <a:latin typeface="Arial"/>
                <a:cs typeface="Arial"/>
              </a:rPr>
              <a:t>I</a:t>
            </a:r>
            <a:r>
              <a:rPr sz="1750" dirty="0">
                <a:solidFill>
                  <a:srgbClr val="3A597B"/>
                </a:solidFill>
                <a:latin typeface="Arial"/>
                <a:cs typeface="Arial"/>
              </a:rPr>
              <a:t>f</a:t>
            </a:r>
            <a:r>
              <a:rPr sz="1750" spc="175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50" dirty="0">
                <a:solidFill>
                  <a:srgbClr val="3A597B"/>
                </a:solidFill>
                <a:latin typeface="Arial"/>
                <a:cs typeface="Arial"/>
              </a:rPr>
              <a:t>two</a:t>
            </a:r>
            <a:r>
              <a:rPr sz="1750" spc="9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75" dirty="0">
                <a:solidFill>
                  <a:srgbClr val="3A597B"/>
                </a:solidFill>
                <a:latin typeface="Arial"/>
                <a:cs typeface="Arial"/>
              </a:rPr>
              <a:t>nodes</a:t>
            </a:r>
            <a:r>
              <a:rPr sz="1750" spc="9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55" dirty="0">
                <a:solidFill>
                  <a:srgbClr val="3A597B"/>
                </a:solidFill>
                <a:latin typeface="Arial"/>
                <a:cs typeface="Arial"/>
              </a:rPr>
              <a:t>begin</a:t>
            </a:r>
            <a:r>
              <a:rPr sz="1750" spc="7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A597B"/>
                </a:solidFill>
                <a:latin typeface="Arial"/>
                <a:cs typeface="Arial"/>
              </a:rPr>
              <a:t>transmitting</a:t>
            </a:r>
            <a:r>
              <a:rPr sz="1750" spc="229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45" dirty="0">
                <a:solidFill>
                  <a:srgbClr val="3A597B"/>
                </a:solidFill>
                <a:latin typeface="Arial"/>
                <a:cs typeface="Arial"/>
              </a:rPr>
              <a:t>simultaneously</a:t>
            </a:r>
            <a:r>
              <a:rPr sz="1750" spc="45" dirty="0">
                <a:solidFill>
                  <a:srgbClr val="62778C"/>
                </a:solidFill>
                <a:latin typeface="Arial"/>
                <a:cs typeface="Arial"/>
              </a:rPr>
              <a:t>, </a:t>
            </a:r>
            <a:r>
              <a:rPr lang="en-IN" sz="1750" dirty="0">
                <a:solidFill>
                  <a:srgbClr val="3A597B"/>
                </a:solidFill>
                <a:latin typeface="Arial"/>
                <a:cs typeface="Arial"/>
              </a:rPr>
              <a:t>then </a:t>
            </a:r>
            <a:r>
              <a:rPr sz="1750" spc="65" dirty="0">
                <a:solidFill>
                  <a:srgbClr val="3A597B"/>
                </a:solidFill>
                <a:latin typeface="Arial"/>
                <a:cs typeface="Arial"/>
              </a:rPr>
              <a:t>they</a:t>
            </a:r>
            <a:r>
              <a:rPr sz="1750" spc="16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A597B"/>
                </a:solidFill>
                <a:latin typeface="Arial"/>
                <a:cs typeface="Arial"/>
              </a:rPr>
              <a:t>participate</a:t>
            </a:r>
            <a:r>
              <a:rPr sz="1750" spc="325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A597B"/>
                </a:solidFill>
                <a:latin typeface="Arial"/>
                <a:cs typeface="Arial"/>
              </a:rPr>
              <a:t>in</a:t>
            </a:r>
            <a:r>
              <a:rPr sz="1750" spc="175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55" dirty="0">
                <a:solidFill>
                  <a:srgbClr val="3A597B"/>
                </a:solidFill>
                <a:latin typeface="Arial"/>
                <a:cs typeface="Arial"/>
              </a:rPr>
              <a:t>an</a:t>
            </a:r>
            <a:r>
              <a:rPr sz="1750" spc="280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A597B"/>
                </a:solidFill>
                <a:latin typeface="Arial"/>
                <a:cs typeface="Arial"/>
              </a:rPr>
              <a:t>arbitration</a:t>
            </a:r>
            <a:r>
              <a:rPr sz="1750" spc="165" dirty="0">
                <a:solidFill>
                  <a:srgbClr val="3A597B"/>
                </a:solidFill>
                <a:latin typeface="Arial"/>
                <a:cs typeface="Arial"/>
              </a:rPr>
              <a:t> </a:t>
            </a:r>
            <a:r>
              <a:rPr sz="1750" spc="40" dirty="0">
                <a:solidFill>
                  <a:srgbClr val="3A597B"/>
                </a:solidFill>
                <a:latin typeface="Arial"/>
                <a:cs typeface="Arial"/>
              </a:rPr>
              <a:t>process.</a:t>
            </a:r>
            <a:endParaRPr lang="en-US" sz="1750" spc="40" dirty="0">
              <a:solidFill>
                <a:srgbClr val="3A597B"/>
              </a:solidFill>
              <a:latin typeface="Arial"/>
              <a:cs typeface="Arial"/>
            </a:endParaRPr>
          </a:p>
          <a:p>
            <a:pPr marL="241935" indent="-229235">
              <a:lnSpc>
                <a:spcPct val="150000"/>
              </a:lnSpc>
              <a:spcBef>
                <a:spcPts val="115"/>
              </a:spcBef>
              <a:buClr>
                <a:srgbClr val="1C4B82"/>
              </a:buClr>
              <a:buChar char="•"/>
              <a:tabLst>
                <a:tab pos="241935" algn="l"/>
              </a:tabLst>
            </a:pP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Wired-</a:t>
            </a:r>
            <a:r>
              <a:rPr lang="en-US" sz="1750" spc="55" dirty="0">
                <a:solidFill>
                  <a:srgbClr val="3B5B7C"/>
                </a:solidFill>
                <a:latin typeface="Arial"/>
                <a:cs typeface="Arial"/>
              </a:rPr>
              <a:t>AND</a:t>
            </a:r>
            <a:r>
              <a:rPr lang="en-US" sz="1750" spc="34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45" dirty="0">
                <a:solidFill>
                  <a:srgbClr val="3B5B7C"/>
                </a:solidFill>
                <a:latin typeface="Arial"/>
                <a:cs typeface="Arial"/>
              </a:rPr>
              <a:t>mechanism is used.</a:t>
            </a:r>
            <a:endParaRPr lang="en-US" sz="1750" dirty="0">
              <a:latin typeface="Arial"/>
              <a:cs typeface="Arial"/>
            </a:endParaRPr>
          </a:p>
          <a:p>
            <a:pPr marL="236854" marR="505459" indent="-224790">
              <a:lnSpc>
                <a:spcPct val="150000"/>
              </a:lnSpc>
              <a:buChar char="•"/>
              <a:tabLst>
                <a:tab pos="236854" algn="l"/>
                <a:tab pos="239395" algn="l"/>
              </a:tabLst>
            </a:pPr>
            <a:r>
              <a:rPr lang="en-US" sz="1750" dirty="0">
                <a:solidFill>
                  <a:srgbClr val="1C4B82"/>
                </a:solidFill>
                <a:latin typeface="Arial"/>
                <a:cs typeface="Arial"/>
              </a:rPr>
              <a:t>	</a:t>
            </a:r>
            <a:r>
              <a:rPr lang="en-US" sz="1750" spc="85" dirty="0">
                <a:solidFill>
                  <a:srgbClr val="3B5B7C"/>
                </a:solidFill>
                <a:latin typeface="Arial"/>
                <a:cs typeface="Arial"/>
              </a:rPr>
              <a:t>The</a:t>
            </a:r>
            <a:r>
              <a:rPr lang="en-US" sz="1750" spc="3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60" dirty="0">
                <a:solidFill>
                  <a:srgbClr val="3B5B7C"/>
                </a:solidFill>
                <a:latin typeface="Arial"/>
                <a:cs typeface="Arial"/>
              </a:rPr>
              <a:t>node</a:t>
            </a:r>
            <a:r>
              <a:rPr lang="en-US" sz="1750" spc="9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with</a:t>
            </a:r>
            <a:r>
              <a:rPr lang="en-US" sz="1750" spc="8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rgbClr val="3B5B7C"/>
                </a:solidFill>
                <a:latin typeface="Arial"/>
                <a:cs typeface="Arial"/>
              </a:rPr>
              <a:t>the</a:t>
            </a:r>
            <a:r>
              <a:rPr lang="en-US" sz="1750" spc="3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rgbClr val="3B5B7C"/>
                </a:solidFill>
                <a:latin typeface="Arial"/>
                <a:cs typeface="Arial"/>
              </a:rPr>
              <a:t>lower</a:t>
            </a:r>
            <a:r>
              <a:rPr lang="en-US" sz="1750" spc="120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rgbClr val="1A3F64"/>
                </a:solidFill>
                <a:latin typeface="Arial"/>
                <a:cs typeface="Arial"/>
              </a:rPr>
              <a:t>I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D</a:t>
            </a:r>
            <a:r>
              <a:rPr lang="en-US" sz="1750" spc="110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55" dirty="0">
                <a:solidFill>
                  <a:srgbClr val="3B5B7C"/>
                </a:solidFill>
                <a:latin typeface="Arial"/>
                <a:cs typeface="Arial"/>
              </a:rPr>
              <a:t>number</a:t>
            </a:r>
            <a:r>
              <a:rPr lang="en-US" sz="1750" spc="15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wins</a:t>
            </a:r>
            <a:r>
              <a:rPr lang="en-US" sz="1750" spc="7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-25" dirty="0">
                <a:solidFill>
                  <a:srgbClr val="3B5B7C"/>
                </a:solidFill>
                <a:latin typeface="Arial"/>
                <a:cs typeface="Arial"/>
              </a:rPr>
              <a:t>the 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arbitration</a:t>
            </a:r>
            <a:r>
              <a:rPr lang="en-US" sz="1750" spc="290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70" dirty="0">
                <a:solidFill>
                  <a:srgbClr val="3B5B7C"/>
                </a:solidFill>
                <a:latin typeface="Arial"/>
                <a:cs typeface="Arial"/>
              </a:rPr>
              <a:t>and</a:t>
            </a:r>
            <a:r>
              <a:rPr lang="en-US" sz="1750" spc="170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rgbClr val="3B5B7C"/>
                </a:solidFill>
                <a:latin typeface="Arial"/>
                <a:cs typeface="Arial"/>
              </a:rPr>
              <a:t>continues</a:t>
            </a:r>
            <a:r>
              <a:rPr lang="en-US" sz="1750" spc="36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transmitting</a:t>
            </a:r>
            <a:r>
              <a:rPr lang="en-US" sz="1750" spc="300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-25" dirty="0">
                <a:solidFill>
                  <a:srgbClr val="3B5B7C"/>
                </a:solidFill>
                <a:latin typeface="Arial"/>
                <a:cs typeface="Arial"/>
              </a:rPr>
              <a:t>its </a:t>
            </a:r>
            <a:r>
              <a:rPr lang="en-US" sz="1750" spc="50" dirty="0">
                <a:solidFill>
                  <a:srgbClr val="3B5B7C"/>
                </a:solidFill>
                <a:latin typeface="Arial"/>
                <a:cs typeface="Arial"/>
              </a:rPr>
              <a:t>message.</a:t>
            </a:r>
            <a:endParaRPr lang="en-US" sz="1750" dirty="0">
              <a:latin typeface="Arial"/>
              <a:cs typeface="Arial"/>
            </a:endParaRPr>
          </a:p>
          <a:p>
            <a:pPr marL="239395" indent="-226695">
              <a:lnSpc>
                <a:spcPct val="150000"/>
              </a:lnSpc>
              <a:buClr>
                <a:srgbClr val="1C4B82"/>
              </a:buClr>
              <a:buChar char="•"/>
              <a:tabLst>
                <a:tab pos="239395" algn="l"/>
              </a:tabLst>
            </a:pPr>
            <a:r>
              <a:rPr lang="en-US" sz="1750" spc="85" dirty="0">
                <a:solidFill>
                  <a:srgbClr val="3B5B7C"/>
                </a:solidFill>
                <a:latin typeface="Arial"/>
                <a:cs typeface="Arial"/>
              </a:rPr>
              <a:t>The</a:t>
            </a:r>
            <a:r>
              <a:rPr lang="en-US" sz="1750" spc="9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rgbClr val="1A3F64"/>
                </a:solidFill>
                <a:latin typeface="Arial"/>
                <a:cs typeface="Arial"/>
              </a:rPr>
              <a:t>l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oser</a:t>
            </a:r>
            <a:r>
              <a:rPr lang="en-US" sz="1750" spc="130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of</a:t>
            </a:r>
            <a:r>
              <a:rPr lang="en-US" sz="1750" spc="13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rgbClr val="3B5B7C"/>
                </a:solidFill>
                <a:latin typeface="Arial"/>
                <a:cs typeface="Arial"/>
              </a:rPr>
              <a:t>the</a:t>
            </a:r>
            <a:r>
              <a:rPr lang="en-US" sz="1750" spc="150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arbitration</a:t>
            </a:r>
            <a:r>
              <a:rPr lang="en-US" sz="1750" spc="204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50" dirty="0">
                <a:solidFill>
                  <a:srgbClr val="3B5B7C"/>
                </a:solidFill>
                <a:latin typeface="Arial"/>
                <a:cs typeface="Arial"/>
              </a:rPr>
              <a:t>backs</a:t>
            </a:r>
            <a:r>
              <a:rPr lang="en-US" sz="1750" spc="18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60" dirty="0">
                <a:solidFill>
                  <a:srgbClr val="3B5B7C"/>
                </a:solidFill>
                <a:latin typeface="Arial"/>
                <a:cs typeface="Arial"/>
              </a:rPr>
              <a:t>off</a:t>
            </a:r>
            <a:r>
              <a:rPr lang="en-US" sz="1750" spc="20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spc="90" dirty="0">
                <a:solidFill>
                  <a:srgbClr val="3B5B7C"/>
                </a:solidFill>
                <a:latin typeface="Arial"/>
                <a:cs typeface="Arial"/>
              </a:rPr>
              <a:t>and</a:t>
            </a:r>
            <a:r>
              <a:rPr lang="en-US" sz="1750" spc="25" dirty="0">
                <a:solidFill>
                  <a:srgbClr val="3B5B7C"/>
                </a:solidFill>
                <a:latin typeface="Arial"/>
                <a:cs typeface="Arial"/>
              </a:rPr>
              <a:t> </a:t>
            </a:r>
            <a:r>
              <a:rPr lang="en-US" sz="1750" dirty="0">
                <a:solidFill>
                  <a:srgbClr val="3B5B7C"/>
                </a:solidFill>
                <a:latin typeface="Arial"/>
                <a:cs typeface="Arial"/>
              </a:rPr>
              <a:t>re-</a:t>
            </a:r>
            <a:r>
              <a:rPr lang="en-US" sz="1750" spc="-10" dirty="0">
                <a:solidFill>
                  <a:srgbClr val="3B5B7C"/>
                </a:solidFill>
                <a:latin typeface="Arial"/>
                <a:cs typeface="Arial"/>
              </a:rPr>
              <a:t>tries.</a:t>
            </a:r>
            <a:endParaRPr lang="en-US" sz="1750" dirty="0">
              <a:latin typeface="Arial"/>
              <a:cs typeface="Arial"/>
            </a:endParaRPr>
          </a:p>
          <a:p>
            <a:pPr marL="241300" marR="5080" indent="-229235">
              <a:lnSpc>
                <a:spcPct val="150000"/>
              </a:lnSpc>
              <a:buChar char="•"/>
              <a:tabLst>
                <a:tab pos="241300" algn="l"/>
                <a:tab pos="243204" algn="l"/>
              </a:tabLst>
            </a:pPr>
            <a:endParaRPr sz="1750" dirty="0">
              <a:latin typeface="Arial"/>
              <a:cs typeface="Arial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68776" y="66675"/>
            <a:ext cx="3366770" cy="392415"/>
          </a:xfrm>
        </p:spPr>
        <p:txBody>
          <a:bodyPr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CAN ARBITRATION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675"/>
            <a:ext cx="6070600" cy="3506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753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2444"/>
            <a:ext cx="6070600" cy="352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358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196"/>
            <a:ext cx="6070600" cy="351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89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1768"/>
            <a:ext cx="6070600" cy="35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79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8776" y="221333"/>
            <a:ext cx="3366770" cy="392415"/>
          </a:xfrm>
        </p:spPr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1900"/>
            <a:ext cx="6070600" cy="35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08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32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90"/>
              </a:spcBef>
            </a:pPr>
            <a:r>
              <a:rPr sz="950" dirty="0">
                <a:solidFill>
                  <a:srgbClr val="7E8C9C"/>
                </a:solidFill>
                <a:latin typeface="Times New Roman"/>
                <a:cs typeface="Times New Roman"/>
              </a:rPr>
              <a:t>•</a:t>
            </a:r>
            <a:r>
              <a:rPr sz="950" spc="65" dirty="0">
                <a:solidFill>
                  <a:srgbClr val="7E8C9C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50" dirty="0">
                <a:solidFill>
                  <a:srgbClr val="7E8C9C"/>
                </a:solidFill>
                <a:latin typeface="Times New Roman"/>
                <a:cs typeface="Times New Roman"/>
              </a:rPr>
              <a:t>19</a:t>
            </a:fld>
            <a:r>
              <a:rPr sz="950" spc="45" dirty="0">
                <a:solidFill>
                  <a:srgbClr val="7E8C9C"/>
                </a:solidFill>
                <a:latin typeface="Times New Roman"/>
                <a:cs typeface="Times New Roman"/>
              </a:rPr>
              <a:t> </a:t>
            </a:r>
            <a:r>
              <a:rPr sz="950" spc="-50" dirty="0">
                <a:solidFill>
                  <a:srgbClr val="7E8C9C"/>
                </a:solidFill>
                <a:latin typeface="Times New Roman"/>
                <a:cs typeface="Times New Roman"/>
              </a:rPr>
              <a:t>•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8530" y="142875"/>
            <a:ext cx="4688970" cy="36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945" marR="5080" indent="-309880" algn="ctr">
              <a:lnSpc>
                <a:spcPct val="126000"/>
              </a:lnSpc>
              <a:spcBef>
                <a:spcPts val="95"/>
              </a:spcBef>
            </a:pPr>
            <a:r>
              <a:rPr sz="2000" b="1" dirty="0">
                <a:solidFill>
                  <a:srgbClr val="425E7E"/>
                </a:solidFill>
                <a:latin typeface="Arial"/>
                <a:cs typeface="Arial"/>
              </a:rPr>
              <a:t>CAN</a:t>
            </a:r>
            <a:r>
              <a:rPr sz="2000" b="1" spc="9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425E7E"/>
                </a:solidFill>
                <a:latin typeface="Arial"/>
                <a:cs typeface="Arial"/>
              </a:rPr>
              <a:t>Data</a:t>
            </a:r>
            <a:r>
              <a:rPr sz="2000" b="1" spc="15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B4669"/>
                </a:solidFill>
                <a:latin typeface="Arial"/>
                <a:cs typeface="Arial"/>
              </a:rPr>
              <a:t>P</a:t>
            </a:r>
            <a:r>
              <a:rPr sz="2000" b="1" spc="-10" dirty="0">
                <a:solidFill>
                  <a:srgbClr val="425E7E"/>
                </a:solidFill>
                <a:latin typeface="Arial"/>
                <a:cs typeface="Arial"/>
              </a:rPr>
              <a:t>rotection­</a:t>
            </a:r>
            <a:endParaRPr sz="2000" b="1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9928" y="1966188"/>
            <a:ext cx="101600" cy="2794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50" spc="-50" dirty="0">
                <a:solidFill>
                  <a:srgbClr val="18497E"/>
                </a:solidFill>
                <a:latin typeface="Arial"/>
                <a:cs typeface="Arial"/>
              </a:rPr>
              <a:t>•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8530" y="1773555"/>
            <a:ext cx="1564770" cy="65532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600"/>
              </a:spcBef>
            </a:pPr>
            <a:r>
              <a:rPr sz="1800" u="sng" dirty="0">
                <a:solidFill>
                  <a:srgbClr val="425E7E"/>
                </a:solidFill>
                <a:latin typeface="Arial"/>
                <a:cs typeface="Arial"/>
              </a:rPr>
              <a:t>Bit</a:t>
            </a:r>
            <a:r>
              <a:rPr sz="1800" u="sng" spc="1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800" u="sng" spc="-10" dirty="0">
                <a:solidFill>
                  <a:srgbClr val="425E7E"/>
                </a:solidFill>
                <a:latin typeface="Arial"/>
                <a:cs typeface="Arial"/>
              </a:rPr>
              <a:t>Monitoring</a:t>
            </a:r>
            <a:r>
              <a:rPr lang="en-US" u="sng" spc="-10" dirty="0">
                <a:solidFill>
                  <a:srgbClr val="425E7E"/>
                </a:solidFill>
                <a:latin typeface="Arial"/>
                <a:cs typeface="Arial"/>
              </a:rPr>
              <a:t>;</a:t>
            </a:r>
            <a:endParaRPr sz="1800" u="sng" dirty="0">
              <a:latin typeface="Arial"/>
              <a:cs typeface="Arial"/>
            </a:endParaRPr>
          </a:p>
          <a:p>
            <a:pPr marR="28575" algn="r">
              <a:lnSpc>
                <a:spcPct val="100000"/>
              </a:lnSpc>
              <a:spcBef>
                <a:spcPts val="434"/>
              </a:spcBef>
            </a:pPr>
            <a:r>
              <a:rPr lang="en-US" sz="1550" dirty="0">
                <a:solidFill>
                  <a:srgbClr val="425E7E"/>
                </a:solidFill>
                <a:latin typeface="Arial"/>
                <a:cs typeface="Arial"/>
              </a:rPr>
              <a:t>-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Sender</a:t>
            </a:r>
            <a:r>
              <a:rPr lang="en-US" sz="1550" dirty="0">
                <a:solidFill>
                  <a:srgbClr val="425E7E"/>
                </a:solidFill>
                <a:latin typeface="Arial"/>
                <a:cs typeface="Arial"/>
              </a:rPr>
              <a:t>’s</a:t>
            </a:r>
            <a:r>
              <a:rPr sz="1550" spc="8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425E7E"/>
                </a:solidFill>
                <a:latin typeface="Arial"/>
                <a:cs typeface="Arial"/>
              </a:rPr>
              <a:t>Task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900" y="2593695"/>
            <a:ext cx="5052695" cy="10515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51155" marR="5080" indent="-339090">
              <a:lnSpc>
                <a:spcPct val="105700"/>
              </a:lnSpc>
              <a:spcBef>
                <a:spcPts val="5"/>
              </a:spcBef>
              <a:tabLst>
                <a:tab pos="357505" algn="l"/>
              </a:tabLst>
            </a:pPr>
            <a:r>
              <a:rPr sz="1500" spc="-25" dirty="0">
                <a:solidFill>
                  <a:srgbClr val="2A598C"/>
                </a:solidFill>
                <a:latin typeface="Arial"/>
                <a:cs typeface="Arial"/>
              </a:rPr>
              <a:t>•!•</a:t>
            </a:r>
            <a:r>
              <a:rPr sz="1500" dirty="0">
                <a:solidFill>
                  <a:srgbClr val="2A598C"/>
                </a:solidFill>
                <a:latin typeface="Arial"/>
                <a:cs typeface="Arial"/>
              </a:rPr>
              <a:t>		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Compares</a:t>
            </a:r>
            <a:r>
              <a:rPr sz="1550" spc="15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every</a:t>
            </a:r>
            <a:r>
              <a:rPr sz="1550" spc="8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b</a:t>
            </a:r>
            <a:r>
              <a:rPr sz="1550" dirty="0">
                <a:solidFill>
                  <a:srgbClr val="2B4669"/>
                </a:solidFill>
                <a:latin typeface="Arial"/>
                <a:cs typeface="Arial"/>
              </a:rPr>
              <a:t>i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t</a:t>
            </a:r>
            <a:r>
              <a:rPr sz="1550" spc="5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placed</a:t>
            </a:r>
            <a:r>
              <a:rPr sz="1550" spc="2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65" dirty="0">
                <a:solidFill>
                  <a:srgbClr val="425E7E"/>
                </a:solidFill>
                <a:latin typeface="Arial"/>
                <a:cs typeface="Arial"/>
              </a:rPr>
              <a:t>on</a:t>
            </a:r>
            <a:r>
              <a:rPr sz="1550" spc="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the</a:t>
            </a:r>
            <a:r>
              <a:rPr sz="1550" spc="10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CAN</a:t>
            </a:r>
            <a:r>
              <a:rPr sz="1550" spc="2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425E7E"/>
                </a:solidFill>
                <a:latin typeface="Arial"/>
                <a:cs typeface="Arial"/>
              </a:rPr>
              <a:t>bus</a:t>
            </a:r>
            <a:r>
              <a:rPr sz="1550" spc="1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w</a:t>
            </a:r>
            <a:r>
              <a:rPr sz="1550" dirty="0">
                <a:solidFill>
                  <a:srgbClr val="2B4669"/>
                </a:solidFill>
                <a:latin typeface="Arial"/>
                <a:cs typeface="Arial"/>
              </a:rPr>
              <a:t>i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th</a:t>
            </a:r>
            <a:r>
              <a:rPr sz="1550" spc="9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425E7E"/>
                </a:solidFill>
                <a:latin typeface="Arial"/>
                <a:cs typeface="Arial"/>
              </a:rPr>
              <a:t>the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actual</a:t>
            </a:r>
            <a:r>
              <a:rPr sz="1550" spc="9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bus</a:t>
            </a:r>
            <a:r>
              <a:rPr sz="1550" spc="13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425E7E"/>
                </a:solidFill>
                <a:latin typeface="Arial"/>
                <a:cs typeface="Arial"/>
              </a:rPr>
              <a:t>level</a:t>
            </a:r>
            <a:endParaRPr sz="1550" dirty="0">
              <a:latin typeface="Arial"/>
              <a:cs typeface="Arial"/>
            </a:endParaRPr>
          </a:p>
          <a:p>
            <a:pPr marL="69215" marR="361950" indent="-67945">
              <a:lnSpc>
                <a:spcPct val="105700"/>
              </a:lnSpc>
              <a:spcBef>
                <a:spcPts val="305"/>
              </a:spcBef>
              <a:buSzPct val="83333"/>
              <a:buChar char="•"/>
              <a:tabLst>
                <a:tab pos="352425" algn="l"/>
                <a:tab pos="354965" algn="l"/>
              </a:tabLst>
            </a:pPr>
            <a:r>
              <a:rPr sz="1500" spc="-25" dirty="0">
                <a:solidFill>
                  <a:srgbClr val="425E7E"/>
                </a:solidFill>
                <a:latin typeface="Arial"/>
                <a:cs typeface="Arial"/>
              </a:rPr>
              <a:t>!</a:t>
            </a:r>
            <a:r>
              <a:rPr sz="1500" spc="-25" dirty="0">
                <a:solidFill>
                  <a:srgbClr val="2B4669"/>
                </a:solidFill>
                <a:latin typeface="Arial"/>
                <a:cs typeface="Arial"/>
              </a:rPr>
              <a:t>•</a:t>
            </a:r>
            <a:r>
              <a:rPr sz="1500" dirty="0">
                <a:solidFill>
                  <a:srgbClr val="2B4669"/>
                </a:solidFill>
                <a:latin typeface="Arial"/>
                <a:cs typeface="Arial"/>
              </a:rPr>
              <a:t>	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Discrepa</a:t>
            </a:r>
            <a:r>
              <a:rPr sz="1550" dirty="0">
                <a:solidFill>
                  <a:srgbClr val="2B4669"/>
                </a:solidFill>
                <a:latin typeface="Arial"/>
                <a:cs typeface="Arial"/>
              </a:rPr>
              <a:t>n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cy</a:t>
            </a:r>
            <a:r>
              <a:rPr sz="1550" spc="22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B4669"/>
                </a:solidFill>
                <a:latin typeface="Arial"/>
                <a:cs typeface="Arial"/>
              </a:rPr>
              <a:t>i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ndicates</a:t>
            </a:r>
            <a:r>
              <a:rPr sz="1550" spc="19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75" dirty="0">
                <a:solidFill>
                  <a:srgbClr val="425E7E"/>
                </a:solidFill>
                <a:latin typeface="Arial"/>
                <a:cs typeface="Arial"/>
              </a:rPr>
              <a:t>a</a:t>
            </a:r>
            <a:r>
              <a:rPr sz="1550" spc="5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b</a:t>
            </a:r>
            <a:r>
              <a:rPr sz="1550" dirty="0">
                <a:solidFill>
                  <a:srgbClr val="2B4669"/>
                </a:solidFill>
                <a:latin typeface="Arial"/>
                <a:cs typeface="Arial"/>
              </a:rPr>
              <a:t>i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t</a:t>
            </a:r>
            <a:r>
              <a:rPr sz="1550" spc="7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monitoring</a:t>
            </a:r>
            <a:r>
              <a:rPr sz="1550" spc="9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error</a:t>
            </a:r>
            <a:r>
              <a:rPr sz="1550" spc="8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30" dirty="0">
                <a:solidFill>
                  <a:srgbClr val="425E7E"/>
                </a:solidFill>
                <a:latin typeface="Arial"/>
                <a:cs typeface="Arial"/>
              </a:rPr>
              <a:t>and 		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results</a:t>
            </a:r>
            <a:r>
              <a:rPr sz="1550" spc="13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in</a:t>
            </a:r>
            <a:r>
              <a:rPr sz="1550" spc="5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error</a:t>
            </a:r>
            <a:r>
              <a:rPr sz="1550" spc="12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2B4669"/>
                </a:solidFill>
                <a:latin typeface="Arial"/>
                <a:cs typeface="Arial"/>
              </a:rPr>
              <a:t>h</a:t>
            </a:r>
            <a:r>
              <a:rPr sz="1550" spc="-10" dirty="0">
                <a:solidFill>
                  <a:srgbClr val="425E7E"/>
                </a:solidFill>
                <a:latin typeface="Arial"/>
                <a:cs typeface="Arial"/>
              </a:rPr>
              <a:t>andling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423D8F-2E93-9C24-4C0B-1DE5118F4A25}"/>
              </a:ext>
            </a:extLst>
          </p:cNvPr>
          <p:cNvSpPr txBox="1"/>
          <p:nvPr/>
        </p:nvSpPr>
        <p:spPr>
          <a:xfrm>
            <a:off x="349928" y="1057275"/>
            <a:ext cx="2075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Error Detection</a:t>
            </a:r>
            <a:endParaRPr lang="en-IN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9636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90"/>
              </a:spcBef>
            </a:pPr>
            <a:r>
              <a:rPr sz="950" dirty="0">
                <a:solidFill>
                  <a:srgbClr val="7E8C9C"/>
                </a:solidFill>
                <a:latin typeface="Times New Roman"/>
                <a:cs typeface="Times New Roman"/>
              </a:rPr>
              <a:t>•</a:t>
            </a:r>
            <a:r>
              <a:rPr sz="950" spc="65" dirty="0">
                <a:solidFill>
                  <a:srgbClr val="7E8C9C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50" dirty="0">
                <a:solidFill>
                  <a:srgbClr val="7E8C9C"/>
                </a:solidFill>
                <a:latin typeface="Times New Roman"/>
                <a:cs typeface="Times New Roman"/>
              </a:rPr>
              <a:t>20</a:t>
            </a:fld>
            <a:r>
              <a:rPr sz="950" spc="45" dirty="0">
                <a:solidFill>
                  <a:srgbClr val="7E8C9C"/>
                </a:solidFill>
                <a:latin typeface="Times New Roman"/>
                <a:cs typeface="Times New Roman"/>
              </a:rPr>
              <a:t> </a:t>
            </a:r>
            <a:r>
              <a:rPr sz="950" spc="-50" dirty="0">
                <a:solidFill>
                  <a:srgbClr val="7E8C9C"/>
                </a:solidFill>
                <a:latin typeface="Times New Roman"/>
                <a:cs typeface="Times New Roman"/>
              </a:rPr>
              <a:t>•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body" idx="1"/>
          </p:nvPr>
        </p:nvSpPr>
        <p:spPr>
          <a:xfrm>
            <a:off x="348573" y="861007"/>
            <a:ext cx="5210175" cy="21638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75"/>
              </a:spcBef>
            </a:pPr>
            <a:endParaRPr sz="1850" dirty="0"/>
          </a:p>
          <a:p>
            <a:pPr marL="368300" indent="-355600">
              <a:lnSpc>
                <a:spcPct val="100000"/>
              </a:lnSpc>
              <a:buClr>
                <a:srgbClr val="265987"/>
              </a:buClr>
              <a:buChar char="•"/>
              <a:tabLst>
                <a:tab pos="368300" algn="l"/>
              </a:tabLst>
            </a:pPr>
            <a:r>
              <a:rPr sz="1850" dirty="0">
                <a:solidFill>
                  <a:srgbClr val="425E7E"/>
                </a:solidFill>
              </a:rPr>
              <a:t>Stuff</a:t>
            </a:r>
            <a:r>
              <a:rPr sz="1850" spc="10" dirty="0">
                <a:solidFill>
                  <a:srgbClr val="425E7E"/>
                </a:solidFill>
              </a:rPr>
              <a:t> </a:t>
            </a:r>
            <a:r>
              <a:rPr sz="1850" spc="-10" dirty="0">
                <a:solidFill>
                  <a:srgbClr val="425E7E"/>
                </a:solidFill>
              </a:rPr>
              <a:t>Check</a:t>
            </a:r>
            <a:endParaRPr sz="1850" dirty="0"/>
          </a:p>
          <a:p>
            <a:pPr marL="292735">
              <a:lnSpc>
                <a:spcPct val="100000"/>
              </a:lnSpc>
              <a:spcBef>
                <a:spcPts val="425"/>
              </a:spcBef>
              <a:tabLst>
                <a:tab pos="632460" algn="l"/>
              </a:tabLst>
            </a:pPr>
            <a:r>
              <a:rPr sz="1500" spc="-25" dirty="0">
                <a:solidFill>
                  <a:srgbClr val="265987"/>
                </a:solidFill>
              </a:rPr>
              <a:t>•!•</a:t>
            </a:r>
            <a:r>
              <a:rPr sz="1500" dirty="0">
                <a:solidFill>
                  <a:srgbClr val="265987"/>
                </a:solidFill>
              </a:rPr>
              <a:t>	</a:t>
            </a:r>
            <a:r>
              <a:rPr sz="1550" dirty="0">
                <a:solidFill>
                  <a:srgbClr val="425E7E"/>
                </a:solidFill>
              </a:rPr>
              <a:t>Receiver</a:t>
            </a:r>
            <a:r>
              <a:rPr sz="1550" spc="210" dirty="0">
                <a:solidFill>
                  <a:srgbClr val="425E7E"/>
                </a:solidFill>
              </a:rPr>
              <a:t> </a:t>
            </a:r>
            <a:r>
              <a:rPr sz="1550" spc="-20" dirty="0">
                <a:solidFill>
                  <a:srgbClr val="425E7E"/>
                </a:solidFill>
              </a:rPr>
              <a:t>Task</a:t>
            </a:r>
            <a:endParaRPr sz="1550" dirty="0"/>
          </a:p>
          <a:p>
            <a:pPr marL="635000" marR="5080" indent="3175">
              <a:lnSpc>
                <a:spcPct val="105700"/>
              </a:lnSpc>
              <a:spcBef>
                <a:spcPts val="380"/>
              </a:spcBef>
            </a:pPr>
            <a:r>
              <a:rPr sz="1550" dirty="0">
                <a:solidFill>
                  <a:srgbClr val="425E7E"/>
                </a:solidFill>
              </a:rPr>
              <a:t>Compares</a:t>
            </a:r>
            <a:r>
              <a:rPr sz="1550" spc="140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arriving</a:t>
            </a:r>
            <a:r>
              <a:rPr sz="1550" spc="95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bit</a:t>
            </a:r>
            <a:r>
              <a:rPr sz="1550" spc="5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stream</a:t>
            </a:r>
            <a:r>
              <a:rPr sz="1550" spc="105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for</a:t>
            </a:r>
            <a:r>
              <a:rPr sz="1550" spc="55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a</a:t>
            </a:r>
            <a:r>
              <a:rPr sz="1550" spc="135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sequence</a:t>
            </a:r>
            <a:r>
              <a:rPr sz="1550" spc="185" dirty="0">
                <a:solidFill>
                  <a:srgbClr val="425E7E"/>
                </a:solidFill>
              </a:rPr>
              <a:t> </a:t>
            </a:r>
            <a:r>
              <a:rPr sz="1550" spc="55" dirty="0">
                <a:solidFill>
                  <a:srgbClr val="425E7E"/>
                </a:solidFill>
              </a:rPr>
              <a:t>of</a:t>
            </a:r>
            <a:r>
              <a:rPr sz="1550" spc="85" dirty="0">
                <a:solidFill>
                  <a:srgbClr val="425E7E"/>
                </a:solidFill>
              </a:rPr>
              <a:t> </a:t>
            </a:r>
            <a:r>
              <a:rPr sz="1550" spc="-25" dirty="0">
                <a:solidFill>
                  <a:srgbClr val="425E7E"/>
                </a:solidFill>
              </a:rPr>
              <a:t>six </a:t>
            </a:r>
            <a:r>
              <a:rPr sz="1550" dirty="0">
                <a:solidFill>
                  <a:srgbClr val="425E7E"/>
                </a:solidFill>
              </a:rPr>
              <a:t>homogeneous</a:t>
            </a:r>
            <a:r>
              <a:rPr sz="1550" spc="320" dirty="0">
                <a:solidFill>
                  <a:srgbClr val="425E7E"/>
                </a:solidFill>
              </a:rPr>
              <a:t> </a:t>
            </a:r>
            <a:r>
              <a:rPr sz="1550" spc="-10" dirty="0">
                <a:solidFill>
                  <a:srgbClr val="425E7E"/>
                </a:solidFill>
              </a:rPr>
              <a:t>bits.</a:t>
            </a:r>
            <a:endParaRPr sz="1550" dirty="0"/>
          </a:p>
          <a:p>
            <a:pPr marL="641985" marR="86360" indent="-9525">
              <a:lnSpc>
                <a:spcPct val="150000"/>
              </a:lnSpc>
              <a:spcBef>
                <a:spcPts val="455"/>
              </a:spcBef>
            </a:pPr>
            <a:r>
              <a:rPr sz="1550" dirty="0">
                <a:solidFill>
                  <a:srgbClr val="425E7E"/>
                </a:solidFill>
              </a:rPr>
              <a:t>Detection</a:t>
            </a:r>
            <a:r>
              <a:rPr sz="1550" spc="40" dirty="0">
                <a:solidFill>
                  <a:srgbClr val="425E7E"/>
                </a:solidFill>
              </a:rPr>
              <a:t> </a:t>
            </a:r>
            <a:r>
              <a:rPr sz="1550" spc="55" dirty="0">
                <a:solidFill>
                  <a:srgbClr val="425E7E"/>
                </a:solidFill>
              </a:rPr>
              <a:t>of</a:t>
            </a:r>
            <a:r>
              <a:rPr sz="1550" spc="60" dirty="0">
                <a:solidFill>
                  <a:srgbClr val="425E7E"/>
                </a:solidFill>
              </a:rPr>
              <a:t> </a:t>
            </a:r>
            <a:r>
              <a:rPr sz="1550" spc="75" dirty="0">
                <a:solidFill>
                  <a:srgbClr val="425E7E"/>
                </a:solidFill>
              </a:rPr>
              <a:t>a</a:t>
            </a:r>
            <a:r>
              <a:rPr sz="1550" spc="80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sixth</a:t>
            </a:r>
            <a:r>
              <a:rPr sz="1550" spc="114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homogeneous</a:t>
            </a:r>
            <a:r>
              <a:rPr sz="1550" spc="160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bit</a:t>
            </a:r>
            <a:r>
              <a:rPr sz="1550" spc="185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indicates</a:t>
            </a:r>
            <a:r>
              <a:rPr sz="1550" spc="30" dirty="0">
                <a:solidFill>
                  <a:srgbClr val="425E7E"/>
                </a:solidFill>
              </a:rPr>
              <a:t> </a:t>
            </a:r>
            <a:r>
              <a:rPr sz="1550" spc="-25" dirty="0">
                <a:solidFill>
                  <a:srgbClr val="425E7E"/>
                </a:solidFill>
              </a:rPr>
              <a:t>bit </a:t>
            </a:r>
            <a:r>
              <a:rPr sz="1550" dirty="0">
                <a:solidFill>
                  <a:srgbClr val="425E7E"/>
                </a:solidFill>
              </a:rPr>
              <a:t>stuffing</a:t>
            </a:r>
            <a:r>
              <a:rPr sz="1550" spc="75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error</a:t>
            </a:r>
            <a:r>
              <a:rPr sz="1550" spc="75" dirty="0">
                <a:solidFill>
                  <a:srgbClr val="425E7E"/>
                </a:solidFill>
              </a:rPr>
              <a:t> </a:t>
            </a:r>
            <a:r>
              <a:rPr sz="1550" spc="55" dirty="0">
                <a:solidFill>
                  <a:srgbClr val="425E7E"/>
                </a:solidFill>
              </a:rPr>
              <a:t>and</a:t>
            </a:r>
            <a:r>
              <a:rPr sz="1550" dirty="0">
                <a:solidFill>
                  <a:srgbClr val="425E7E"/>
                </a:solidFill>
              </a:rPr>
              <a:t> results</a:t>
            </a:r>
            <a:r>
              <a:rPr sz="1550" spc="20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in</a:t>
            </a:r>
            <a:r>
              <a:rPr sz="1550" spc="140" dirty="0">
                <a:solidFill>
                  <a:srgbClr val="425E7E"/>
                </a:solidFill>
              </a:rPr>
              <a:t> </a:t>
            </a:r>
            <a:r>
              <a:rPr sz="1550" dirty="0">
                <a:solidFill>
                  <a:srgbClr val="425E7E"/>
                </a:solidFill>
              </a:rPr>
              <a:t>error</a:t>
            </a:r>
            <a:r>
              <a:rPr sz="1550" spc="110" dirty="0">
                <a:solidFill>
                  <a:srgbClr val="425E7E"/>
                </a:solidFill>
              </a:rPr>
              <a:t> </a:t>
            </a:r>
            <a:r>
              <a:rPr sz="1550" spc="-10" dirty="0">
                <a:solidFill>
                  <a:srgbClr val="425E7E"/>
                </a:solidFill>
              </a:rPr>
              <a:t>handling</a:t>
            </a:r>
            <a:endParaRPr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9636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90"/>
              </a:spcBef>
            </a:pPr>
            <a:r>
              <a:rPr sz="950" dirty="0">
                <a:solidFill>
                  <a:srgbClr val="7E8C9C"/>
                </a:solidFill>
                <a:latin typeface="Times New Roman"/>
                <a:cs typeface="Times New Roman"/>
              </a:rPr>
              <a:t>•</a:t>
            </a:r>
            <a:r>
              <a:rPr sz="950" spc="65" dirty="0">
                <a:solidFill>
                  <a:srgbClr val="7E8C9C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50" dirty="0">
                <a:solidFill>
                  <a:srgbClr val="7E8C9C"/>
                </a:solidFill>
                <a:latin typeface="Times New Roman"/>
                <a:cs typeface="Times New Roman"/>
              </a:rPr>
              <a:t>21</a:t>
            </a:fld>
            <a:r>
              <a:rPr sz="950" spc="45" dirty="0">
                <a:solidFill>
                  <a:srgbClr val="7E8C9C"/>
                </a:solidFill>
                <a:latin typeface="Times New Roman"/>
                <a:cs typeface="Times New Roman"/>
              </a:rPr>
              <a:t> </a:t>
            </a:r>
            <a:r>
              <a:rPr sz="950" spc="-50" dirty="0">
                <a:solidFill>
                  <a:srgbClr val="7E8C9C"/>
                </a:solidFill>
                <a:latin typeface="Times New Roman"/>
                <a:cs typeface="Times New Roman"/>
              </a:rPr>
              <a:t>•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8912" y="859726"/>
            <a:ext cx="5363210" cy="2493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70"/>
              </a:spcBef>
            </a:pPr>
            <a:endParaRPr sz="1800" dirty="0">
              <a:latin typeface="Arial"/>
              <a:cs typeface="Arial"/>
            </a:endParaRPr>
          </a:p>
          <a:p>
            <a:pPr marL="369570" indent="-356870">
              <a:lnSpc>
                <a:spcPct val="100000"/>
              </a:lnSpc>
              <a:buChar char="•"/>
              <a:tabLst>
                <a:tab pos="369570" algn="l"/>
              </a:tabLst>
            </a:pPr>
            <a:r>
              <a:rPr sz="1800" spc="50" dirty="0">
                <a:solidFill>
                  <a:srgbClr val="2A5987"/>
                </a:solidFill>
                <a:latin typeface="Arial"/>
                <a:cs typeface="Arial"/>
              </a:rPr>
              <a:t>Form</a:t>
            </a:r>
            <a:r>
              <a:rPr sz="1800" spc="-40" dirty="0">
                <a:solidFill>
                  <a:srgbClr val="2A5987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25E7E"/>
                </a:solidFill>
                <a:latin typeface="Arial"/>
                <a:cs typeface="Arial"/>
              </a:rPr>
              <a:t>Check</a:t>
            </a:r>
            <a:endParaRPr sz="1800" dirty="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  <a:spcBef>
                <a:spcPts val="360"/>
              </a:spcBef>
              <a:tabLst>
                <a:tab pos="631825" algn="l"/>
              </a:tabLst>
            </a:pPr>
            <a:r>
              <a:rPr sz="1500" spc="-25" dirty="0">
                <a:solidFill>
                  <a:srgbClr val="2A5987"/>
                </a:solidFill>
                <a:latin typeface="Arial"/>
                <a:cs typeface="Arial"/>
              </a:rPr>
              <a:t>•!•</a:t>
            </a:r>
            <a:r>
              <a:rPr sz="1500" dirty="0">
                <a:solidFill>
                  <a:srgbClr val="2A5987"/>
                </a:solidFill>
                <a:latin typeface="Arial"/>
                <a:cs typeface="Arial"/>
              </a:rPr>
              <a:t>	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Receiver</a:t>
            </a:r>
            <a:r>
              <a:rPr sz="1550" spc="21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425E7E"/>
                </a:solidFill>
                <a:latin typeface="Arial"/>
                <a:cs typeface="Arial"/>
              </a:rPr>
              <a:t>Task</a:t>
            </a:r>
            <a:endParaRPr sz="1550" dirty="0">
              <a:latin typeface="Arial"/>
              <a:cs typeface="Arial"/>
            </a:endParaRPr>
          </a:p>
          <a:p>
            <a:pPr marL="634365" marR="612140" indent="2540">
              <a:lnSpc>
                <a:spcPct val="105700"/>
              </a:lnSpc>
              <a:spcBef>
                <a:spcPts val="380"/>
              </a:spcBef>
            </a:pP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Comparison</a:t>
            </a:r>
            <a:r>
              <a:rPr sz="1550" spc="8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425E7E"/>
                </a:solidFill>
                <a:latin typeface="Arial"/>
                <a:cs typeface="Arial"/>
              </a:rPr>
              <a:t>of</a:t>
            </a:r>
            <a:r>
              <a:rPr sz="1550" spc="9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the</a:t>
            </a:r>
            <a:r>
              <a:rPr sz="1550" spc="3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arr</a:t>
            </a:r>
            <a:r>
              <a:rPr sz="1550" dirty="0">
                <a:solidFill>
                  <a:srgbClr val="1F3857"/>
                </a:solidFill>
                <a:latin typeface="Arial"/>
                <a:cs typeface="Arial"/>
              </a:rPr>
              <a:t>i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ving</a:t>
            </a:r>
            <a:r>
              <a:rPr sz="1550" spc="6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bit</a:t>
            </a:r>
            <a:r>
              <a:rPr sz="1550" spc="14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stream</a:t>
            </a:r>
            <a:r>
              <a:rPr sz="1550" spc="16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with</a:t>
            </a:r>
            <a:r>
              <a:rPr sz="1550" spc="10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425E7E"/>
                </a:solidFill>
                <a:latin typeface="Arial"/>
                <a:cs typeface="Arial"/>
              </a:rPr>
              <a:t>the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message</a:t>
            </a:r>
            <a:r>
              <a:rPr sz="1550" spc="16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425E7E"/>
                </a:solidFill>
                <a:latin typeface="Arial"/>
                <a:cs typeface="Arial"/>
              </a:rPr>
              <a:t>format</a:t>
            </a:r>
            <a:endParaRPr sz="1550" dirty="0">
              <a:latin typeface="Arial"/>
              <a:cs typeface="Arial"/>
            </a:endParaRPr>
          </a:p>
          <a:p>
            <a:pPr marL="634365" marR="5080" indent="-2540">
              <a:lnSpc>
                <a:spcPct val="150000"/>
              </a:lnSpc>
              <a:spcBef>
                <a:spcPts val="415"/>
              </a:spcBef>
            </a:pP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Detection</a:t>
            </a:r>
            <a:r>
              <a:rPr sz="1550" spc="6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425E7E"/>
                </a:solidFill>
                <a:latin typeface="Arial"/>
                <a:cs typeface="Arial"/>
              </a:rPr>
              <a:t>of</a:t>
            </a:r>
            <a:r>
              <a:rPr sz="1550" spc="9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75" dirty="0">
                <a:solidFill>
                  <a:srgbClr val="425E7E"/>
                </a:solidFill>
                <a:latin typeface="Arial"/>
                <a:cs typeface="Arial"/>
              </a:rPr>
              <a:t>a</a:t>
            </a:r>
            <a:r>
              <a:rPr sz="1550" spc="1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dominant</a:t>
            </a:r>
            <a:r>
              <a:rPr sz="1550" spc="13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delimiter</a:t>
            </a:r>
            <a:r>
              <a:rPr sz="1550" spc="22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bit</a:t>
            </a:r>
            <a:r>
              <a:rPr sz="1550" spc="5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(CRC</a:t>
            </a:r>
            <a:r>
              <a:rPr sz="1550" spc="9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425E7E"/>
                </a:solidFill>
                <a:latin typeface="Arial"/>
                <a:cs typeface="Arial"/>
              </a:rPr>
              <a:t>delimiter</a:t>
            </a:r>
            <a:r>
              <a:rPr sz="1550" spc="-10" dirty="0">
                <a:solidFill>
                  <a:srgbClr val="647E9E"/>
                </a:solidFill>
                <a:latin typeface="Arial"/>
                <a:cs typeface="Arial"/>
              </a:rPr>
              <a:t>,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ACK</a:t>
            </a:r>
            <a:r>
              <a:rPr sz="1550" spc="13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del</a:t>
            </a:r>
            <a:r>
              <a:rPr sz="1550" dirty="0">
                <a:solidFill>
                  <a:srgbClr val="1F3857"/>
                </a:solidFill>
                <a:latin typeface="Arial"/>
                <a:cs typeface="Arial"/>
              </a:rPr>
              <a:t>i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miter)</a:t>
            </a:r>
            <a:r>
              <a:rPr sz="1550" spc="10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or</a:t>
            </a:r>
            <a:r>
              <a:rPr sz="1550" spc="2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a</a:t>
            </a:r>
            <a:r>
              <a:rPr sz="1550" spc="14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dominant</a:t>
            </a:r>
            <a:r>
              <a:rPr sz="1550" spc="12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bit</a:t>
            </a:r>
            <a:r>
              <a:rPr sz="1550" spc="12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w</a:t>
            </a:r>
            <a:r>
              <a:rPr sz="1550" dirty="0">
                <a:solidFill>
                  <a:srgbClr val="1F3857"/>
                </a:solidFill>
                <a:latin typeface="Arial"/>
                <a:cs typeface="Arial"/>
              </a:rPr>
              <a:t>i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thin</a:t>
            </a:r>
            <a:r>
              <a:rPr sz="1550" spc="6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30" dirty="0">
                <a:solidFill>
                  <a:srgbClr val="425E7E"/>
                </a:solidFill>
                <a:latin typeface="Arial"/>
                <a:cs typeface="Arial"/>
              </a:rPr>
              <a:t>EOF</a:t>
            </a:r>
            <a:r>
              <a:rPr sz="1550" spc="50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596E7C"/>
                </a:solidFill>
                <a:latin typeface="Arial"/>
                <a:cs typeface="Arial"/>
              </a:rPr>
              <a:t>indicates</a:t>
            </a:r>
            <a:r>
              <a:rPr sz="1550" spc="105" dirty="0">
                <a:solidFill>
                  <a:srgbClr val="596E7C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a</a:t>
            </a:r>
            <a:r>
              <a:rPr sz="1550" spc="12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format</a:t>
            </a:r>
            <a:r>
              <a:rPr sz="1550" spc="5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error</a:t>
            </a:r>
            <a:r>
              <a:rPr sz="1550" spc="7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425E7E"/>
                </a:solidFill>
                <a:latin typeface="Arial"/>
                <a:cs typeface="Arial"/>
              </a:rPr>
              <a:t>and</a:t>
            </a:r>
            <a:r>
              <a:rPr sz="1550" spc="-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results</a:t>
            </a:r>
            <a:r>
              <a:rPr sz="1550" spc="114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in</a:t>
            </a:r>
            <a:r>
              <a:rPr sz="1550" spc="130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25E7E"/>
                </a:solidFill>
                <a:latin typeface="Arial"/>
                <a:cs typeface="Arial"/>
              </a:rPr>
              <a:t>error</a:t>
            </a:r>
            <a:r>
              <a:rPr sz="1550" spc="135" dirty="0">
                <a:solidFill>
                  <a:srgbClr val="425E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425E7E"/>
                </a:solidFill>
                <a:latin typeface="Arial"/>
                <a:cs typeface="Arial"/>
              </a:rPr>
              <a:t>handling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96366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3175">
              <a:lnSpc>
                <a:spcPct val="100000"/>
              </a:lnSpc>
              <a:spcBef>
                <a:spcPts val="10"/>
              </a:spcBef>
            </a:pPr>
            <a:r>
              <a:rPr sz="1000" dirty="0">
                <a:solidFill>
                  <a:srgbClr val="79899A"/>
                </a:solidFill>
              </a:rPr>
              <a:t>-</a:t>
            </a:r>
            <a:r>
              <a:rPr sz="1000" spc="-10" dirty="0">
                <a:solidFill>
                  <a:srgbClr val="79899A"/>
                </a:solidFill>
              </a:rPr>
              <a:t> </a:t>
            </a:r>
            <a:fld id="{81D60167-4931-47E6-BA6A-407CBD079E47}" type="slidenum">
              <a:rPr sz="1000" dirty="0">
                <a:solidFill>
                  <a:srgbClr val="79899A"/>
                </a:solidFill>
              </a:rPr>
              <a:t>22</a:t>
            </a:fld>
            <a:r>
              <a:rPr sz="1000" spc="-114" dirty="0">
                <a:solidFill>
                  <a:srgbClr val="79899A"/>
                </a:solidFill>
              </a:rPr>
              <a:t> </a:t>
            </a:r>
            <a:r>
              <a:rPr sz="1000" spc="-50" dirty="0">
                <a:solidFill>
                  <a:srgbClr val="79899A"/>
                </a:solidFill>
              </a:rPr>
              <a:t>-</a:t>
            </a: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348912" y="859726"/>
            <a:ext cx="5080635" cy="22704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670"/>
              </a:spcBef>
            </a:pPr>
            <a:endParaRPr sz="1800" dirty="0">
              <a:latin typeface="Arial"/>
              <a:cs typeface="Arial"/>
            </a:endParaRPr>
          </a:p>
          <a:p>
            <a:pPr marL="367030" indent="-354330" algn="just">
              <a:lnSpc>
                <a:spcPct val="100000"/>
              </a:lnSpc>
              <a:buClr>
                <a:srgbClr val="265682"/>
              </a:buClr>
              <a:buChar char="•"/>
              <a:tabLst>
                <a:tab pos="367030" algn="l"/>
              </a:tabLst>
            </a:pPr>
            <a:r>
              <a:rPr sz="1800" dirty="0">
                <a:solidFill>
                  <a:srgbClr val="415D7E"/>
                </a:solidFill>
                <a:latin typeface="Arial"/>
                <a:cs typeface="Arial"/>
              </a:rPr>
              <a:t>Cyclic</a:t>
            </a:r>
            <a:r>
              <a:rPr sz="1800" spc="21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65682"/>
                </a:solidFill>
                <a:latin typeface="Arial"/>
                <a:cs typeface="Arial"/>
              </a:rPr>
              <a:t>Redundancy</a:t>
            </a:r>
            <a:r>
              <a:rPr sz="1800" spc="305" dirty="0">
                <a:solidFill>
                  <a:srgbClr val="265682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15D7E"/>
                </a:solidFill>
                <a:latin typeface="Arial"/>
                <a:cs typeface="Arial"/>
              </a:rPr>
              <a:t>Check</a:t>
            </a:r>
            <a:endParaRPr sz="1800" dirty="0">
              <a:latin typeface="Arial"/>
              <a:cs typeface="Arial"/>
            </a:endParaRPr>
          </a:p>
          <a:p>
            <a:pPr marL="292100" algn="just">
              <a:lnSpc>
                <a:spcPct val="100000"/>
              </a:lnSpc>
              <a:spcBef>
                <a:spcPts val="360"/>
              </a:spcBef>
            </a:pPr>
            <a:r>
              <a:rPr sz="1500" dirty="0">
                <a:solidFill>
                  <a:srgbClr val="265682"/>
                </a:solidFill>
                <a:latin typeface="Arial"/>
                <a:cs typeface="Arial"/>
              </a:rPr>
              <a:t>•!•</a:t>
            </a:r>
            <a:r>
              <a:rPr sz="1500" spc="260" dirty="0">
                <a:solidFill>
                  <a:srgbClr val="265682"/>
                </a:solidFill>
                <a:latin typeface="Arial"/>
                <a:cs typeface="Arial"/>
              </a:rPr>
              <a:t> 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Receiver</a:t>
            </a:r>
            <a:r>
              <a:rPr sz="1550" spc="4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415D7E"/>
                </a:solidFill>
                <a:latin typeface="Arial"/>
                <a:cs typeface="Arial"/>
              </a:rPr>
              <a:t>Task</a:t>
            </a:r>
            <a:endParaRPr sz="1550" dirty="0">
              <a:latin typeface="Arial"/>
              <a:cs typeface="Arial"/>
            </a:endParaRPr>
          </a:p>
          <a:p>
            <a:pPr marL="634365" marR="401320" indent="-3175" algn="just">
              <a:lnSpc>
                <a:spcPct val="150000"/>
              </a:lnSpc>
              <a:spcBef>
                <a:spcPts val="380"/>
              </a:spcBef>
            </a:pP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Utilizes</a:t>
            </a:r>
            <a:r>
              <a:rPr sz="1550" spc="5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the</a:t>
            </a:r>
            <a:r>
              <a:rPr sz="1550" spc="3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arriving</a:t>
            </a:r>
            <a:r>
              <a:rPr sz="1550" spc="11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bit</a:t>
            </a:r>
            <a:r>
              <a:rPr sz="1550" spc="17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stream</a:t>
            </a:r>
            <a:r>
              <a:rPr sz="1550" spc="13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45" dirty="0">
                <a:solidFill>
                  <a:srgbClr val="415D7E"/>
                </a:solidFill>
                <a:latin typeface="Arial"/>
                <a:cs typeface="Arial"/>
              </a:rPr>
              <a:t>and</a:t>
            </a:r>
            <a:r>
              <a:rPr sz="1550" spc="-2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415D7E"/>
                </a:solidFill>
                <a:latin typeface="Arial"/>
                <a:cs typeface="Arial"/>
              </a:rPr>
              <a:t>generator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polynomial</a:t>
            </a:r>
            <a:r>
              <a:rPr sz="1550" spc="18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for the</a:t>
            </a:r>
            <a:r>
              <a:rPr sz="1550" spc="9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Cyclic</a:t>
            </a:r>
            <a:r>
              <a:rPr sz="1550" spc="15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Redundancy</a:t>
            </a:r>
            <a:r>
              <a:rPr sz="1550" spc="27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415D7E"/>
                </a:solidFill>
                <a:latin typeface="Arial"/>
                <a:cs typeface="Arial"/>
              </a:rPr>
              <a:t>Check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defined</a:t>
            </a:r>
            <a:r>
              <a:rPr sz="1550" spc="13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in</a:t>
            </a:r>
            <a:r>
              <a:rPr sz="1550" spc="17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ISO</a:t>
            </a:r>
            <a:r>
              <a:rPr sz="1550" spc="2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11898-</a:t>
            </a:r>
            <a:r>
              <a:rPr sz="1550" spc="-50" dirty="0">
                <a:solidFill>
                  <a:srgbClr val="415D7E"/>
                </a:solidFill>
                <a:latin typeface="Arial"/>
                <a:cs typeface="Arial"/>
              </a:rPr>
              <a:t>1</a:t>
            </a:r>
            <a:endParaRPr sz="1550" dirty="0">
              <a:latin typeface="Arial"/>
              <a:cs typeface="Arial"/>
            </a:endParaRPr>
          </a:p>
          <a:p>
            <a:pPr marL="632460" algn="just">
              <a:lnSpc>
                <a:spcPct val="100000"/>
              </a:lnSpc>
              <a:spcBef>
                <a:spcPts val="405"/>
              </a:spcBef>
            </a:pP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Detection</a:t>
            </a:r>
            <a:r>
              <a:rPr sz="1550" spc="55" dirty="0">
                <a:solidFill>
                  <a:srgbClr val="415D7E"/>
                </a:solidFill>
                <a:latin typeface="Arial"/>
                <a:cs typeface="Arial"/>
              </a:rPr>
              <a:t> of</a:t>
            </a:r>
            <a:r>
              <a:rPr sz="1550" spc="8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75" dirty="0">
                <a:solidFill>
                  <a:srgbClr val="415D7E"/>
                </a:solidFill>
                <a:latin typeface="Arial"/>
                <a:cs typeface="Arial"/>
              </a:rPr>
              <a:t>a</a:t>
            </a:r>
            <a:r>
              <a:rPr sz="1550" spc="7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CRC</a:t>
            </a:r>
            <a:r>
              <a:rPr sz="1550" spc="5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error</a:t>
            </a:r>
            <a:r>
              <a:rPr sz="1550" spc="10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results</a:t>
            </a:r>
            <a:r>
              <a:rPr sz="1550" spc="1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in</a:t>
            </a:r>
            <a:r>
              <a:rPr sz="1550" spc="13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error</a:t>
            </a:r>
            <a:r>
              <a:rPr sz="1550" spc="10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415D7E"/>
                </a:solidFill>
                <a:latin typeface="Arial"/>
                <a:cs typeface="Arial"/>
              </a:rPr>
              <a:t>handling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9636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>
                <a:solidFill>
                  <a:srgbClr val="7E8A9A"/>
                </a:solidFill>
              </a:rPr>
              <a:t>•</a:t>
            </a:r>
            <a:r>
              <a:rPr spc="-25" dirty="0">
                <a:solidFill>
                  <a:srgbClr val="7E8A9A"/>
                </a:solidFill>
              </a:rPr>
              <a:t> </a:t>
            </a:r>
            <a:fld id="{81D60167-4931-47E6-BA6A-407CBD079E47}" type="slidenum">
              <a:rPr spc="-45" dirty="0">
                <a:solidFill>
                  <a:srgbClr val="7E8A9A"/>
                </a:solidFill>
              </a:rPr>
              <a:t>23</a:t>
            </a:fld>
            <a:r>
              <a:rPr spc="-125" dirty="0">
                <a:solidFill>
                  <a:srgbClr val="7E8A9A"/>
                </a:solidFill>
              </a:rPr>
              <a:t> </a:t>
            </a:r>
            <a:r>
              <a:rPr spc="-50" dirty="0">
                <a:solidFill>
                  <a:srgbClr val="7E8A9A"/>
                </a:solidFill>
              </a:rPr>
              <a:t>•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48912" y="859726"/>
            <a:ext cx="5166995" cy="22704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95"/>
              </a:spcBef>
            </a:pPr>
            <a:endParaRPr sz="1800" dirty="0">
              <a:latin typeface="Arial"/>
              <a:cs typeface="Arial"/>
            </a:endParaRPr>
          </a:p>
          <a:p>
            <a:pPr marL="370205" indent="-357505">
              <a:lnSpc>
                <a:spcPct val="100000"/>
              </a:lnSpc>
              <a:buClr>
                <a:srgbClr val="265987"/>
              </a:buClr>
              <a:buChar char="•"/>
              <a:tabLst>
                <a:tab pos="370205" algn="l"/>
              </a:tabLst>
            </a:pPr>
            <a:r>
              <a:rPr sz="1800" dirty="0">
                <a:solidFill>
                  <a:srgbClr val="415D7E"/>
                </a:solidFill>
                <a:latin typeface="Arial"/>
                <a:cs typeface="Arial"/>
              </a:rPr>
              <a:t>ACK</a:t>
            </a:r>
            <a:r>
              <a:rPr sz="1800" spc="12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415D7E"/>
                </a:solidFill>
                <a:latin typeface="Arial"/>
                <a:cs typeface="Arial"/>
              </a:rPr>
              <a:t>Check</a:t>
            </a:r>
            <a:endParaRPr sz="1800" dirty="0">
              <a:latin typeface="Arial"/>
              <a:cs typeface="Arial"/>
            </a:endParaRPr>
          </a:p>
          <a:p>
            <a:pPr marL="292100">
              <a:lnSpc>
                <a:spcPct val="100000"/>
              </a:lnSpc>
              <a:spcBef>
                <a:spcPts val="434"/>
              </a:spcBef>
              <a:tabLst>
                <a:tab pos="638175" algn="l"/>
              </a:tabLst>
            </a:pPr>
            <a:r>
              <a:rPr sz="1500" spc="-25" dirty="0">
                <a:solidFill>
                  <a:srgbClr val="265987"/>
                </a:solidFill>
                <a:latin typeface="Arial"/>
                <a:cs typeface="Arial"/>
              </a:rPr>
              <a:t>•!•</a:t>
            </a:r>
            <a:r>
              <a:rPr sz="1500" dirty="0">
                <a:solidFill>
                  <a:srgbClr val="265987"/>
                </a:solidFill>
                <a:latin typeface="Arial"/>
                <a:cs typeface="Arial"/>
              </a:rPr>
              <a:t>	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Sender</a:t>
            </a:r>
            <a:r>
              <a:rPr sz="1550" spc="15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-20" dirty="0">
                <a:solidFill>
                  <a:srgbClr val="415D7E"/>
                </a:solidFill>
                <a:latin typeface="Arial"/>
                <a:cs typeface="Arial"/>
              </a:rPr>
              <a:t>Task</a:t>
            </a:r>
            <a:endParaRPr sz="1550" dirty="0">
              <a:latin typeface="Arial"/>
              <a:cs typeface="Arial"/>
            </a:endParaRPr>
          </a:p>
          <a:p>
            <a:pPr marL="631190" marR="174625" indent="6350">
              <a:lnSpc>
                <a:spcPct val="150000"/>
              </a:lnSpc>
              <a:spcBef>
                <a:spcPts val="380"/>
              </a:spcBef>
            </a:pP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Acknowledge</a:t>
            </a:r>
            <a:r>
              <a:rPr sz="1550" spc="19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error</a:t>
            </a:r>
            <a:r>
              <a:rPr sz="1550" spc="114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(ACK</a:t>
            </a:r>
            <a:r>
              <a:rPr sz="1550" spc="14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error)</a:t>
            </a:r>
            <a:r>
              <a:rPr sz="1550" spc="10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D4867"/>
                </a:solidFill>
                <a:latin typeface="Arial"/>
                <a:cs typeface="Arial"/>
              </a:rPr>
              <a:t>is</a:t>
            </a:r>
            <a:r>
              <a:rPr sz="1550" spc="-15" dirty="0">
                <a:solidFill>
                  <a:srgbClr val="2D4867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detected</a:t>
            </a:r>
            <a:r>
              <a:rPr sz="1550" spc="8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if</a:t>
            </a:r>
            <a:r>
              <a:rPr sz="1550" spc="15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-25" dirty="0">
                <a:solidFill>
                  <a:srgbClr val="415D7E"/>
                </a:solidFill>
                <a:latin typeface="Arial"/>
                <a:cs typeface="Arial"/>
              </a:rPr>
              <a:t>the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recessive</a:t>
            </a:r>
            <a:r>
              <a:rPr sz="1550" spc="12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level</a:t>
            </a:r>
            <a:r>
              <a:rPr sz="1550" spc="-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placed</a:t>
            </a:r>
            <a:r>
              <a:rPr sz="1550" spc="5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by</a:t>
            </a:r>
            <a:r>
              <a:rPr sz="1550" spc="16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the</a:t>
            </a:r>
            <a:r>
              <a:rPr sz="1550" spc="2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sender</a:t>
            </a:r>
            <a:r>
              <a:rPr sz="1550" spc="15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is</a:t>
            </a:r>
            <a:r>
              <a:rPr sz="1550" spc="11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415D7E"/>
                </a:solidFill>
                <a:latin typeface="Arial"/>
                <a:cs typeface="Arial"/>
              </a:rPr>
              <a:t>not </a:t>
            </a:r>
            <a:r>
              <a:rPr sz="1550" spc="-10" dirty="0">
                <a:solidFill>
                  <a:srgbClr val="415D7E"/>
                </a:solidFill>
                <a:latin typeface="Arial"/>
                <a:cs typeface="Arial"/>
              </a:rPr>
              <a:t>overwritten</a:t>
            </a:r>
            <a:endParaRPr sz="1550" dirty="0">
              <a:latin typeface="Arial"/>
              <a:cs typeface="Arial"/>
            </a:endParaRPr>
          </a:p>
          <a:p>
            <a:pPr marL="632460">
              <a:lnSpc>
                <a:spcPct val="100000"/>
              </a:lnSpc>
              <a:spcBef>
                <a:spcPts val="405"/>
              </a:spcBef>
            </a:pP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Detection</a:t>
            </a:r>
            <a:r>
              <a:rPr sz="1550" spc="5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55" dirty="0">
                <a:solidFill>
                  <a:srgbClr val="415D7E"/>
                </a:solidFill>
                <a:latin typeface="Arial"/>
                <a:cs typeface="Arial"/>
              </a:rPr>
              <a:t>of</a:t>
            </a:r>
            <a:r>
              <a:rPr sz="1550" spc="7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75" dirty="0">
                <a:solidFill>
                  <a:srgbClr val="415D7E"/>
                </a:solidFill>
                <a:latin typeface="Arial"/>
                <a:cs typeface="Arial"/>
              </a:rPr>
              <a:t>an</a:t>
            </a:r>
            <a:r>
              <a:rPr sz="1550" spc="1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ACK</a:t>
            </a:r>
            <a:r>
              <a:rPr sz="1550" spc="4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error results</a:t>
            </a:r>
            <a:r>
              <a:rPr sz="1550" spc="100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2D4867"/>
                </a:solidFill>
                <a:latin typeface="Arial"/>
                <a:cs typeface="Arial"/>
              </a:rPr>
              <a:t>in</a:t>
            </a:r>
            <a:r>
              <a:rPr sz="1550" spc="120" dirty="0">
                <a:solidFill>
                  <a:srgbClr val="2D4867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415D7E"/>
                </a:solidFill>
                <a:latin typeface="Arial"/>
                <a:cs typeface="Arial"/>
              </a:rPr>
              <a:t>error</a:t>
            </a:r>
            <a:r>
              <a:rPr sz="1550" spc="125" dirty="0">
                <a:solidFill>
                  <a:srgbClr val="415D7E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415D7E"/>
                </a:solidFill>
                <a:latin typeface="Arial"/>
                <a:cs typeface="Arial"/>
              </a:rPr>
              <a:t>handling</a:t>
            </a:r>
            <a:endParaRPr sz="15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7E8999"/>
                </a:solidFill>
              </a:rPr>
              <a:t>•</a:t>
            </a:r>
            <a:r>
              <a:rPr sz="950" spc="45" dirty="0">
                <a:solidFill>
                  <a:srgbClr val="7E8999"/>
                </a:solidFill>
              </a:rPr>
              <a:t> </a:t>
            </a:r>
            <a:fld id="{81D60167-4931-47E6-BA6A-407CBD079E47}" type="slidenum">
              <a:rPr sz="950" dirty="0">
                <a:solidFill>
                  <a:srgbClr val="7E8999"/>
                </a:solidFill>
              </a:rPr>
              <a:t>24</a:t>
            </a:fld>
            <a:r>
              <a:rPr sz="950" spc="-90" dirty="0">
                <a:solidFill>
                  <a:srgbClr val="7E8999"/>
                </a:solidFill>
              </a:rPr>
              <a:t> </a:t>
            </a:r>
            <a:r>
              <a:rPr sz="950" spc="-50" dirty="0">
                <a:solidFill>
                  <a:srgbClr val="7E8999"/>
                </a:solidFill>
              </a:rPr>
              <a:t>•</a:t>
            </a:r>
            <a:endParaRPr sz="950"/>
          </a:p>
        </p:txBody>
      </p:sp>
      <p:sp>
        <p:nvSpPr>
          <p:cNvPr id="11" name="object 11"/>
          <p:cNvSpPr txBox="1"/>
          <p:nvPr/>
        </p:nvSpPr>
        <p:spPr>
          <a:xfrm>
            <a:off x="349250" y="1242633"/>
            <a:ext cx="4093845" cy="142811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70205" indent="-357505">
              <a:lnSpc>
                <a:spcPct val="100000"/>
              </a:lnSpc>
              <a:spcBef>
                <a:spcPts val="795"/>
              </a:spcBef>
              <a:buChar char="•"/>
              <a:tabLst>
                <a:tab pos="370205" algn="l"/>
              </a:tabLst>
            </a:pPr>
            <a:r>
              <a:rPr sz="1750" spc="65" dirty="0">
                <a:solidFill>
                  <a:srgbClr val="244D79"/>
                </a:solidFill>
                <a:latin typeface="Arial"/>
                <a:cs typeface="Arial"/>
              </a:rPr>
              <a:t>High</a:t>
            </a:r>
            <a:r>
              <a:rPr sz="1750" spc="90" dirty="0">
                <a:solidFill>
                  <a:srgbClr val="244D79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3D5B7C"/>
                </a:solidFill>
                <a:latin typeface="Arial"/>
                <a:cs typeface="Arial"/>
              </a:rPr>
              <a:t>performance</a:t>
            </a:r>
            <a:r>
              <a:rPr sz="1750" spc="380" dirty="0">
                <a:solidFill>
                  <a:srgbClr val="3D5B7C"/>
                </a:solidFill>
                <a:latin typeface="Arial"/>
                <a:cs typeface="Arial"/>
              </a:rPr>
              <a:t> </a:t>
            </a:r>
            <a:r>
              <a:rPr sz="1750" spc="50" dirty="0">
                <a:solidFill>
                  <a:srgbClr val="3D5B7C"/>
                </a:solidFill>
                <a:latin typeface="Arial"/>
                <a:cs typeface="Arial"/>
              </a:rPr>
              <a:t>under</a:t>
            </a:r>
            <a:r>
              <a:rPr sz="1750" spc="220" dirty="0">
                <a:solidFill>
                  <a:srgbClr val="3D5B7C"/>
                </a:solidFill>
                <a:latin typeface="Arial"/>
                <a:cs typeface="Arial"/>
              </a:rPr>
              <a:t> </a:t>
            </a:r>
            <a:r>
              <a:rPr sz="1750" dirty="0">
                <a:solidFill>
                  <a:srgbClr val="244D79"/>
                </a:solidFill>
                <a:latin typeface="Arial"/>
                <a:cs typeface="Arial"/>
              </a:rPr>
              <a:t>light</a:t>
            </a:r>
            <a:r>
              <a:rPr sz="1750" spc="235" dirty="0">
                <a:solidFill>
                  <a:srgbClr val="244D79"/>
                </a:solidFill>
                <a:latin typeface="Arial"/>
                <a:cs typeface="Arial"/>
              </a:rPr>
              <a:t> </a:t>
            </a:r>
            <a:r>
              <a:rPr sz="1750" spc="45" dirty="0">
                <a:solidFill>
                  <a:srgbClr val="3D5B7C"/>
                </a:solidFill>
                <a:latin typeface="Arial"/>
                <a:cs typeface="Arial"/>
              </a:rPr>
              <a:t>loads</a:t>
            </a:r>
            <a:endParaRPr sz="1750">
              <a:latin typeface="Arial"/>
              <a:cs typeface="Arial"/>
            </a:endParaRPr>
          </a:p>
          <a:p>
            <a:pPr marL="372110" indent="-359410">
              <a:lnSpc>
                <a:spcPct val="100000"/>
              </a:lnSpc>
              <a:spcBef>
                <a:spcPts val="695"/>
              </a:spcBef>
              <a:buChar char="•"/>
              <a:tabLst>
                <a:tab pos="372110" algn="l"/>
              </a:tabLst>
            </a:pPr>
            <a:r>
              <a:rPr sz="1750" spc="80" dirty="0">
                <a:solidFill>
                  <a:srgbClr val="244D79"/>
                </a:solidFill>
                <a:latin typeface="Arial"/>
                <a:cs typeface="Arial"/>
              </a:rPr>
              <a:t>Low</a:t>
            </a:r>
            <a:r>
              <a:rPr sz="1750" spc="-65" dirty="0">
                <a:solidFill>
                  <a:srgbClr val="244D79"/>
                </a:solidFill>
                <a:latin typeface="Arial"/>
                <a:cs typeface="Arial"/>
              </a:rPr>
              <a:t> </a:t>
            </a:r>
            <a:r>
              <a:rPr sz="1750" spc="35" dirty="0">
                <a:solidFill>
                  <a:srgbClr val="3D5B7C"/>
                </a:solidFill>
                <a:latin typeface="Arial"/>
                <a:cs typeface="Arial"/>
              </a:rPr>
              <a:t>cost</a:t>
            </a:r>
            <a:endParaRPr sz="1750">
              <a:latin typeface="Arial"/>
              <a:cs typeface="Arial"/>
            </a:endParaRPr>
          </a:p>
          <a:p>
            <a:pPr marL="370840" indent="-358140">
              <a:lnSpc>
                <a:spcPct val="100000"/>
              </a:lnSpc>
              <a:spcBef>
                <a:spcPts val="475"/>
              </a:spcBef>
              <a:buChar char="•"/>
              <a:tabLst>
                <a:tab pos="370840" algn="l"/>
              </a:tabLst>
            </a:pPr>
            <a:r>
              <a:rPr sz="1750" spc="-10" dirty="0">
                <a:solidFill>
                  <a:srgbClr val="244D79"/>
                </a:solidFill>
                <a:latin typeface="Arial"/>
                <a:cs typeface="Arial"/>
              </a:rPr>
              <a:t>Reliable</a:t>
            </a:r>
            <a:endParaRPr sz="1750">
              <a:latin typeface="Arial"/>
              <a:cs typeface="Arial"/>
            </a:endParaRPr>
          </a:p>
          <a:p>
            <a:pPr marL="370840" indent="-358140">
              <a:lnSpc>
                <a:spcPct val="100000"/>
              </a:lnSpc>
              <a:spcBef>
                <a:spcPts val="770"/>
              </a:spcBef>
              <a:buChar char="•"/>
              <a:tabLst>
                <a:tab pos="370840" algn="l"/>
              </a:tabLst>
            </a:pPr>
            <a:r>
              <a:rPr sz="1750" spc="45" dirty="0">
                <a:solidFill>
                  <a:srgbClr val="244D79"/>
                </a:solidFill>
                <a:latin typeface="Arial"/>
                <a:cs typeface="Arial"/>
              </a:rPr>
              <a:t>Robust</a:t>
            </a:r>
            <a:endParaRPr sz="1750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C0575F-ABC5-F828-F442-E11C2FFFE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776" y="221333"/>
            <a:ext cx="3366770" cy="39241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CAN Advantages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7E8999"/>
                </a:solidFill>
              </a:rPr>
              <a:t>•</a:t>
            </a:r>
            <a:r>
              <a:rPr sz="950" spc="45" dirty="0">
                <a:solidFill>
                  <a:srgbClr val="7E8999"/>
                </a:solidFill>
              </a:rPr>
              <a:t> </a:t>
            </a:r>
            <a:fld id="{81D60167-4931-47E6-BA6A-407CBD079E47}" type="slidenum">
              <a:rPr sz="950" dirty="0">
                <a:solidFill>
                  <a:srgbClr val="7E8999"/>
                </a:solidFill>
              </a:rPr>
              <a:t>25</a:t>
            </a:fld>
            <a:r>
              <a:rPr sz="950" spc="-90" dirty="0">
                <a:solidFill>
                  <a:srgbClr val="7E8999"/>
                </a:solidFill>
              </a:rPr>
              <a:t> </a:t>
            </a:r>
            <a:r>
              <a:rPr sz="950" spc="-50" dirty="0">
                <a:solidFill>
                  <a:srgbClr val="7E8999"/>
                </a:solidFill>
              </a:rPr>
              <a:t>•</a:t>
            </a:r>
            <a:endParaRPr sz="950"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70608" rIns="0" bIns="0" rtlCol="0">
            <a:spAutoFit/>
          </a:bodyPr>
          <a:lstStyle/>
          <a:p>
            <a:pPr marL="366395" marR="5080" indent="-353695">
              <a:lnSpc>
                <a:spcPct val="104400"/>
              </a:lnSpc>
              <a:spcBef>
                <a:spcPts val="20"/>
              </a:spcBef>
              <a:buChar char="•"/>
              <a:tabLst>
                <a:tab pos="366395" algn="l"/>
                <a:tab pos="371475" algn="l"/>
              </a:tabLst>
            </a:pPr>
            <a:r>
              <a:rPr dirty="0">
                <a:solidFill>
                  <a:srgbClr val="264D77"/>
                </a:solidFill>
              </a:rPr>
              <a:t>	</a:t>
            </a:r>
            <a:r>
              <a:rPr spc="50" dirty="0"/>
              <a:t>Unfair </a:t>
            </a:r>
            <a:r>
              <a:rPr spc="60" dirty="0"/>
              <a:t>access</a:t>
            </a:r>
            <a:r>
              <a:rPr spc="60" dirty="0">
                <a:solidFill>
                  <a:srgbClr val="5B6977"/>
                </a:solidFill>
              </a:rPr>
              <a:t>:</a:t>
            </a:r>
            <a:r>
              <a:rPr spc="15" dirty="0">
                <a:solidFill>
                  <a:srgbClr val="5B6977"/>
                </a:solidFill>
              </a:rPr>
              <a:t> </a:t>
            </a:r>
            <a:r>
              <a:rPr spc="65" dirty="0">
                <a:solidFill>
                  <a:srgbClr val="264D77"/>
                </a:solidFill>
              </a:rPr>
              <a:t>Node</a:t>
            </a:r>
            <a:r>
              <a:rPr spc="25" dirty="0">
                <a:solidFill>
                  <a:srgbClr val="264D77"/>
                </a:solidFill>
              </a:rPr>
              <a:t> </a:t>
            </a:r>
            <a:r>
              <a:rPr spc="65" dirty="0"/>
              <a:t>with</a:t>
            </a:r>
            <a:r>
              <a:rPr spc="40" dirty="0"/>
              <a:t> </a:t>
            </a:r>
            <a:r>
              <a:rPr spc="60" dirty="0"/>
              <a:t>high</a:t>
            </a:r>
            <a:r>
              <a:rPr spc="-35" dirty="0"/>
              <a:t> </a:t>
            </a:r>
            <a:r>
              <a:rPr dirty="0"/>
              <a:t>priority</a:t>
            </a:r>
            <a:r>
              <a:rPr spc="140" dirty="0"/>
              <a:t> </a:t>
            </a:r>
            <a:r>
              <a:rPr spc="80" dirty="0"/>
              <a:t>can</a:t>
            </a:r>
            <a:r>
              <a:rPr spc="55" dirty="0"/>
              <a:t> </a:t>
            </a:r>
            <a:r>
              <a:rPr spc="35" dirty="0"/>
              <a:t>hog </a:t>
            </a:r>
            <a:r>
              <a:rPr spc="50" dirty="0"/>
              <a:t>the</a:t>
            </a:r>
            <a:r>
              <a:rPr spc="60" dirty="0"/>
              <a:t> </a:t>
            </a:r>
            <a:r>
              <a:rPr spc="-10" dirty="0"/>
              <a:t>network</a:t>
            </a:r>
          </a:p>
          <a:p>
            <a:pPr marL="368935" indent="-355600">
              <a:lnSpc>
                <a:spcPct val="100000"/>
              </a:lnSpc>
              <a:spcBef>
                <a:spcPts val="700"/>
              </a:spcBef>
              <a:buClr>
                <a:srgbClr val="264D77"/>
              </a:buClr>
              <a:buChar char="•"/>
              <a:tabLst>
                <a:tab pos="368935" algn="l"/>
              </a:tabLst>
            </a:pPr>
            <a:r>
              <a:rPr dirty="0"/>
              <a:t>Starvation</a:t>
            </a:r>
            <a:r>
              <a:rPr spc="320" dirty="0"/>
              <a:t> </a:t>
            </a:r>
            <a:r>
              <a:rPr spc="50" dirty="0"/>
              <a:t>for</a:t>
            </a:r>
            <a:r>
              <a:rPr spc="165" dirty="0"/>
              <a:t> </a:t>
            </a:r>
            <a:r>
              <a:rPr spc="80" dirty="0"/>
              <a:t>some</a:t>
            </a:r>
            <a:r>
              <a:rPr spc="215" dirty="0"/>
              <a:t> </a:t>
            </a:r>
            <a:r>
              <a:rPr dirty="0">
                <a:solidFill>
                  <a:srgbClr val="264D77"/>
                </a:solidFill>
              </a:rPr>
              <a:t>particular</a:t>
            </a:r>
            <a:r>
              <a:rPr spc="295" dirty="0">
                <a:solidFill>
                  <a:srgbClr val="264D77"/>
                </a:solidFill>
              </a:rPr>
              <a:t> </a:t>
            </a:r>
            <a:r>
              <a:rPr spc="35" dirty="0"/>
              <a:t>nodes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F79EBD-93DA-FDAE-5B41-08DE7C525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776" y="221333"/>
            <a:ext cx="3366770" cy="392415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CAN Disadvantages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95"/>
              </a:lnSpc>
            </a:pPr>
            <a:r>
              <a:rPr sz="1150" spc="40" dirty="0">
                <a:solidFill>
                  <a:srgbClr val="838E9E"/>
                </a:solidFill>
                <a:latin typeface="Courier New"/>
                <a:cs typeface="Courier New"/>
              </a:rPr>
              <a:t>.</a:t>
            </a:r>
            <a:fld id="{81D60167-4931-47E6-BA6A-407CBD079E47}" type="slidenum">
              <a:rPr sz="1150" spc="40" dirty="0">
                <a:solidFill>
                  <a:srgbClr val="838E9E"/>
                </a:solidFill>
                <a:latin typeface="Courier New"/>
                <a:cs typeface="Courier New"/>
              </a:rPr>
              <a:t>26</a:t>
            </a:fld>
            <a:r>
              <a:rPr sz="1150" spc="40" dirty="0">
                <a:solidFill>
                  <a:srgbClr val="838E9E"/>
                </a:solidFill>
                <a:latin typeface="Courier New"/>
                <a:cs typeface="Courier New"/>
              </a:rPr>
              <a:t>.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7218" y="1332865"/>
            <a:ext cx="3823335" cy="277241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660"/>
              </a:spcBef>
              <a:buChar char="•"/>
              <a:tabLst>
                <a:tab pos="247015" algn="l"/>
              </a:tabLst>
            </a:pPr>
            <a:r>
              <a:rPr sz="2050" spc="-10" dirty="0">
                <a:solidFill>
                  <a:srgbClr val="2D4F77"/>
                </a:solidFill>
                <a:latin typeface="Arial"/>
                <a:cs typeface="Arial"/>
              </a:rPr>
              <a:t>Automotive</a:t>
            </a:r>
            <a:endParaRPr sz="2050" dirty="0">
              <a:latin typeface="Arial"/>
              <a:cs typeface="Arial"/>
            </a:endParaRPr>
          </a:p>
          <a:p>
            <a:pPr marL="246379" indent="-233679">
              <a:lnSpc>
                <a:spcPct val="100000"/>
              </a:lnSpc>
              <a:spcBef>
                <a:spcPts val="565"/>
              </a:spcBef>
              <a:buChar char="•"/>
              <a:tabLst>
                <a:tab pos="246379" algn="l"/>
              </a:tabLst>
            </a:pPr>
            <a:r>
              <a:rPr sz="2050" dirty="0">
                <a:solidFill>
                  <a:srgbClr val="2D4F77"/>
                </a:solidFill>
                <a:latin typeface="Arial"/>
                <a:cs typeface="Arial"/>
              </a:rPr>
              <a:t>Military</a:t>
            </a:r>
            <a:r>
              <a:rPr sz="2050" spc="260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D4F77"/>
                </a:solidFill>
                <a:latin typeface="Arial"/>
                <a:cs typeface="Arial"/>
              </a:rPr>
              <a:t>vehicles</a:t>
            </a:r>
            <a:endParaRPr sz="2050" dirty="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Char char="•"/>
              <a:tabLst>
                <a:tab pos="241300" algn="l"/>
              </a:tabLst>
            </a:pPr>
            <a:r>
              <a:rPr sz="2050" dirty="0">
                <a:solidFill>
                  <a:srgbClr val="2D4F77"/>
                </a:solidFill>
                <a:latin typeface="Arial"/>
                <a:cs typeface="Arial"/>
              </a:rPr>
              <a:t>Industrial</a:t>
            </a:r>
            <a:r>
              <a:rPr sz="2050" spc="270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D4F77"/>
                </a:solidFill>
                <a:latin typeface="Arial"/>
                <a:cs typeface="Arial"/>
              </a:rPr>
              <a:t>machinery</a:t>
            </a:r>
            <a:endParaRPr sz="2050" dirty="0">
              <a:latin typeface="Arial"/>
              <a:cs typeface="Arial"/>
            </a:endParaRPr>
          </a:p>
          <a:p>
            <a:pPr marL="246379" indent="-233679">
              <a:lnSpc>
                <a:spcPct val="100000"/>
              </a:lnSpc>
              <a:spcBef>
                <a:spcPts val="715"/>
              </a:spcBef>
              <a:buChar char="•"/>
              <a:tabLst>
                <a:tab pos="246379" algn="l"/>
              </a:tabLst>
            </a:pPr>
            <a:r>
              <a:rPr sz="2050" dirty="0">
                <a:solidFill>
                  <a:srgbClr val="2D4F77"/>
                </a:solidFill>
                <a:latin typeface="Arial"/>
                <a:cs typeface="Arial"/>
              </a:rPr>
              <a:t>Medical</a:t>
            </a:r>
            <a:r>
              <a:rPr sz="2050" spc="229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D4F77"/>
                </a:solidFill>
                <a:latin typeface="Arial"/>
                <a:cs typeface="Arial"/>
              </a:rPr>
              <a:t>systems</a:t>
            </a:r>
            <a:endParaRPr sz="2050" dirty="0">
              <a:latin typeface="Arial"/>
              <a:cs typeface="Arial"/>
            </a:endParaRPr>
          </a:p>
          <a:p>
            <a:pPr marL="247015" indent="-234315">
              <a:lnSpc>
                <a:spcPct val="100000"/>
              </a:lnSpc>
              <a:spcBef>
                <a:spcPts val="645"/>
              </a:spcBef>
              <a:buChar char="•"/>
              <a:tabLst>
                <a:tab pos="247015" algn="l"/>
              </a:tabLst>
            </a:pPr>
            <a:r>
              <a:rPr sz="2050" dirty="0">
                <a:solidFill>
                  <a:srgbClr val="2D4F77"/>
                </a:solidFill>
                <a:latin typeface="Arial"/>
                <a:cs typeface="Arial"/>
              </a:rPr>
              <a:t>Agricultural</a:t>
            </a:r>
            <a:r>
              <a:rPr sz="2050" spc="310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D4F77"/>
                </a:solidFill>
                <a:latin typeface="Arial"/>
                <a:cs typeface="Arial"/>
              </a:rPr>
              <a:t>machinery</a:t>
            </a:r>
            <a:endParaRPr sz="2050" dirty="0">
              <a:latin typeface="Arial"/>
              <a:cs typeface="Arial"/>
            </a:endParaRPr>
          </a:p>
          <a:p>
            <a:pPr marL="246379" indent="-233679">
              <a:lnSpc>
                <a:spcPct val="100000"/>
              </a:lnSpc>
              <a:spcBef>
                <a:spcPts val="565"/>
              </a:spcBef>
              <a:buChar char="•"/>
              <a:tabLst>
                <a:tab pos="246379" algn="l"/>
              </a:tabLst>
            </a:pPr>
            <a:r>
              <a:rPr sz="2050" dirty="0">
                <a:solidFill>
                  <a:srgbClr val="2D4F77"/>
                </a:solidFill>
                <a:latin typeface="Arial"/>
                <a:cs typeface="Arial"/>
              </a:rPr>
              <a:t>Marine</a:t>
            </a:r>
            <a:r>
              <a:rPr sz="2050" spc="114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2D4F77"/>
                </a:solidFill>
                <a:latin typeface="Arial"/>
                <a:cs typeface="Arial"/>
              </a:rPr>
              <a:t>control</a:t>
            </a:r>
            <a:r>
              <a:rPr sz="2050" spc="185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spc="60" dirty="0">
                <a:solidFill>
                  <a:srgbClr val="2D4F77"/>
                </a:solidFill>
                <a:latin typeface="Arial"/>
                <a:cs typeface="Arial"/>
              </a:rPr>
              <a:t>and</a:t>
            </a:r>
            <a:r>
              <a:rPr sz="2050" spc="85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D4F77"/>
                </a:solidFill>
                <a:latin typeface="Arial"/>
                <a:cs typeface="Arial"/>
              </a:rPr>
              <a:t>navigation</a:t>
            </a:r>
            <a:endParaRPr sz="2050" dirty="0">
              <a:latin typeface="Arial"/>
              <a:cs typeface="Arial"/>
            </a:endParaRPr>
          </a:p>
          <a:p>
            <a:pPr marL="245110" indent="-232410">
              <a:lnSpc>
                <a:spcPct val="100000"/>
              </a:lnSpc>
              <a:spcBef>
                <a:spcPts val="715"/>
              </a:spcBef>
              <a:buChar char="•"/>
              <a:tabLst>
                <a:tab pos="245110" algn="l"/>
              </a:tabLst>
            </a:pPr>
            <a:r>
              <a:rPr sz="2050" dirty="0">
                <a:solidFill>
                  <a:srgbClr val="2D4F77"/>
                </a:solidFill>
                <a:latin typeface="Arial"/>
                <a:cs typeface="Arial"/>
              </a:rPr>
              <a:t>Elevator</a:t>
            </a:r>
            <a:r>
              <a:rPr sz="2050" spc="270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dirty="0">
                <a:solidFill>
                  <a:srgbClr val="2D4F77"/>
                </a:solidFill>
                <a:latin typeface="Arial"/>
                <a:cs typeface="Arial"/>
              </a:rPr>
              <a:t>control</a:t>
            </a:r>
            <a:r>
              <a:rPr sz="2050" spc="280" dirty="0">
                <a:solidFill>
                  <a:srgbClr val="2D4F77"/>
                </a:solidFill>
                <a:latin typeface="Arial"/>
                <a:cs typeface="Arial"/>
              </a:rPr>
              <a:t> </a:t>
            </a:r>
            <a:r>
              <a:rPr sz="2050" spc="-10" dirty="0">
                <a:solidFill>
                  <a:srgbClr val="2D4F77"/>
                </a:solidFill>
                <a:latin typeface="Arial"/>
                <a:cs typeface="Arial"/>
              </a:rPr>
              <a:t>systems</a:t>
            </a:r>
            <a:endParaRPr sz="2050" dirty="0"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819F9-ED06-EDD6-F9B6-F8BF6F80E3E4}"/>
              </a:ext>
            </a:extLst>
          </p:cNvPr>
          <p:cNvSpPr txBox="1"/>
          <p:nvPr/>
        </p:nvSpPr>
        <p:spPr>
          <a:xfrm>
            <a:off x="1054100" y="371475"/>
            <a:ext cx="3581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Applications</a:t>
            </a:r>
            <a:endParaRPr lang="en-IN" sz="3200" b="1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9636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21230" y="177081"/>
            <a:ext cx="1652270" cy="421269"/>
          </a:xfrm>
          <a:prstGeom prst="rect">
            <a:avLst/>
          </a:prstGeom>
          <a:solidFill>
            <a:srgbClr val="156295"/>
          </a:solidFill>
        </p:spPr>
        <p:txBody>
          <a:bodyPr vert="horz" wrap="square" lIns="0" tIns="209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600" b="1" spc="-130" dirty="0">
                <a:solidFill>
                  <a:srgbClr val="EBF9FB"/>
                </a:solidFill>
                <a:latin typeface="Arial"/>
                <a:cs typeface="Arial"/>
              </a:rPr>
              <a:t>Conclusion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60"/>
              </a:spcBef>
            </a:pPr>
            <a:r>
              <a:rPr sz="950" dirty="0">
                <a:solidFill>
                  <a:srgbClr val="7E8999"/>
                </a:solidFill>
              </a:rPr>
              <a:t>•</a:t>
            </a:r>
            <a:r>
              <a:rPr sz="950" spc="45" dirty="0">
                <a:solidFill>
                  <a:srgbClr val="7E8999"/>
                </a:solidFill>
              </a:rPr>
              <a:t> </a:t>
            </a:r>
            <a:fld id="{81D60167-4931-47E6-BA6A-407CBD079E47}" type="slidenum">
              <a:rPr sz="950" dirty="0">
                <a:solidFill>
                  <a:srgbClr val="7E8999"/>
                </a:solidFill>
              </a:rPr>
              <a:t>27</a:t>
            </a:fld>
            <a:r>
              <a:rPr sz="950" spc="-90" dirty="0">
                <a:solidFill>
                  <a:srgbClr val="7E8999"/>
                </a:solidFill>
              </a:rPr>
              <a:t> </a:t>
            </a:r>
            <a:r>
              <a:rPr sz="950" spc="-50" dirty="0">
                <a:solidFill>
                  <a:srgbClr val="7E8999"/>
                </a:solidFill>
              </a:rPr>
              <a:t>•</a:t>
            </a:r>
            <a:endParaRPr sz="950"/>
          </a:p>
        </p:txBody>
      </p:sp>
      <p:sp>
        <p:nvSpPr>
          <p:cNvPr id="10" name="object 10"/>
          <p:cNvSpPr txBox="1"/>
          <p:nvPr/>
        </p:nvSpPr>
        <p:spPr>
          <a:xfrm>
            <a:off x="349589" y="934003"/>
            <a:ext cx="5507355" cy="2859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9395" marR="12065" indent="-227329" algn="just">
              <a:lnSpc>
                <a:spcPct val="152000"/>
              </a:lnSpc>
              <a:spcBef>
                <a:spcPts val="95"/>
              </a:spcBef>
              <a:buChar char="•"/>
              <a:tabLst>
                <a:tab pos="239395" algn="l"/>
                <a:tab pos="243204" algn="l"/>
              </a:tabLst>
            </a:pPr>
            <a:r>
              <a:rPr sz="1700" dirty="0">
                <a:solidFill>
                  <a:srgbClr val="18467C"/>
                </a:solidFill>
                <a:latin typeface="Arial"/>
                <a:cs typeface="Arial"/>
              </a:rPr>
              <a:t>	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CAN</a:t>
            </a:r>
            <a:r>
              <a:rPr sz="1700" spc="5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is</a:t>
            </a:r>
            <a:r>
              <a:rPr sz="1700" spc="204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ideally</a:t>
            </a:r>
            <a:r>
              <a:rPr sz="1700" spc="125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suited</a:t>
            </a:r>
            <a:r>
              <a:rPr sz="1700" spc="105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3F5D7E"/>
                </a:solidFill>
                <a:latin typeface="Arial"/>
                <a:cs typeface="Arial"/>
              </a:rPr>
              <a:t>in</a:t>
            </a:r>
            <a:r>
              <a:rPr sz="1700" spc="8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applications</a:t>
            </a:r>
            <a:r>
              <a:rPr sz="1700" spc="225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requiring</a:t>
            </a:r>
            <a:r>
              <a:rPr sz="1700" spc="24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85" dirty="0">
                <a:solidFill>
                  <a:srgbClr val="3F5D7E"/>
                </a:solidFill>
                <a:latin typeface="Arial"/>
                <a:cs typeface="Arial"/>
              </a:rPr>
              <a:t>a</a:t>
            </a:r>
            <a:r>
              <a:rPr sz="1700" spc="8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3F5D7E"/>
                </a:solidFill>
                <a:latin typeface="Arial"/>
                <a:cs typeface="Arial"/>
              </a:rPr>
              <a:t>large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number</a:t>
            </a:r>
            <a:r>
              <a:rPr sz="1700" spc="114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spc="60" dirty="0">
                <a:solidFill>
                  <a:srgbClr val="3F5D7E"/>
                </a:solidFill>
                <a:latin typeface="Arial"/>
                <a:cs typeface="Arial"/>
              </a:rPr>
              <a:t>of</a:t>
            </a:r>
            <a:r>
              <a:rPr sz="1700" spc="80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short</a:t>
            </a:r>
            <a:r>
              <a:rPr sz="1700" spc="75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messages</a:t>
            </a:r>
            <a:r>
              <a:rPr sz="1700" spc="145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with</a:t>
            </a:r>
            <a:r>
              <a:rPr sz="1700" spc="90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high</a:t>
            </a:r>
            <a:r>
              <a:rPr sz="1700" spc="80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reliability</a:t>
            </a:r>
            <a:r>
              <a:rPr sz="1700" spc="100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spc="-25" dirty="0">
                <a:solidFill>
                  <a:srgbClr val="3F5D7E"/>
                </a:solidFill>
                <a:latin typeface="Arial"/>
                <a:cs typeface="Arial"/>
              </a:rPr>
              <a:t>in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rugged</a:t>
            </a:r>
            <a:r>
              <a:rPr sz="1700" spc="9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operating</a:t>
            </a:r>
            <a:r>
              <a:rPr sz="1700" spc="7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3F5D7E"/>
                </a:solidFill>
                <a:latin typeface="Arial"/>
                <a:cs typeface="Arial"/>
              </a:rPr>
              <a:t>environments</a:t>
            </a:r>
            <a:r>
              <a:rPr sz="1700" spc="-10" dirty="0">
                <a:solidFill>
                  <a:srgbClr val="5D7085"/>
                </a:solidFill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237490" marR="5080" indent="-224790" algn="just">
              <a:lnSpc>
                <a:spcPct val="153200"/>
              </a:lnSpc>
              <a:spcBef>
                <a:spcPts val="505"/>
              </a:spcBef>
              <a:buChar char="•"/>
              <a:tabLst>
                <a:tab pos="237490" algn="l"/>
                <a:tab pos="335280" algn="l"/>
              </a:tabLst>
            </a:pPr>
            <a:r>
              <a:rPr sz="1700" dirty="0">
                <a:solidFill>
                  <a:srgbClr val="18467C"/>
                </a:solidFill>
                <a:latin typeface="Arial"/>
                <a:cs typeface="Arial"/>
              </a:rPr>
              <a:t>	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Because</a:t>
            </a:r>
            <a:r>
              <a:rPr sz="1700" spc="32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CAN</a:t>
            </a:r>
            <a:r>
              <a:rPr sz="1700" spc="215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is</a:t>
            </a:r>
            <a:r>
              <a:rPr sz="1700" spc="375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message-based</a:t>
            </a:r>
            <a:r>
              <a:rPr sz="1700" spc="425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3F5D7E"/>
                </a:solidFill>
                <a:latin typeface="Arial"/>
                <a:cs typeface="Arial"/>
              </a:rPr>
              <a:t>and</a:t>
            </a:r>
            <a:r>
              <a:rPr sz="1700" spc="204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not</a:t>
            </a:r>
            <a:r>
              <a:rPr sz="1700" spc="24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3F5D7E"/>
                </a:solidFill>
                <a:latin typeface="Arial"/>
                <a:cs typeface="Arial"/>
              </a:rPr>
              <a:t>address­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based</a:t>
            </a:r>
            <a:r>
              <a:rPr sz="1700" dirty="0">
                <a:solidFill>
                  <a:srgbClr val="5D7085"/>
                </a:solidFill>
                <a:latin typeface="Arial"/>
                <a:cs typeface="Arial"/>
              </a:rPr>
              <a:t>,</a:t>
            </a:r>
            <a:r>
              <a:rPr sz="1700" spc="175" dirty="0">
                <a:solidFill>
                  <a:srgbClr val="5D7085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it</a:t>
            </a:r>
            <a:r>
              <a:rPr sz="1700" spc="220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is</a:t>
            </a:r>
            <a:r>
              <a:rPr sz="1700" spc="235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especially</a:t>
            </a:r>
            <a:r>
              <a:rPr sz="1700" spc="254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well-suited</a:t>
            </a:r>
            <a:r>
              <a:rPr sz="1700" spc="240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when</a:t>
            </a:r>
            <a:r>
              <a:rPr sz="1700" spc="220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data</a:t>
            </a:r>
            <a:r>
              <a:rPr sz="1700" spc="215" dirty="0">
                <a:solidFill>
                  <a:srgbClr val="3F5D7E"/>
                </a:solidFill>
                <a:latin typeface="Arial"/>
                <a:cs typeface="Arial"/>
              </a:rPr>
              <a:t>  </a:t>
            </a:r>
            <a:r>
              <a:rPr sz="1700" spc="-25" dirty="0">
                <a:solidFill>
                  <a:srgbClr val="3F5D7E"/>
                </a:solidFill>
                <a:latin typeface="Arial"/>
                <a:cs typeface="Arial"/>
              </a:rPr>
              <a:t>is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needed</a:t>
            </a:r>
            <a:r>
              <a:rPr sz="1700" spc="229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3F5D7E"/>
                </a:solidFill>
                <a:latin typeface="Arial"/>
                <a:cs typeface="Arial"/>
              </a:rPr>
              <a:t>by</a:t>
            </a:r>
            <a:r>
              <a:rPr sz="1700" spc="18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more</a:t>
            </a:r>
            <a:r>
              <a:rPr sz="1700" spc="254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than</a:t>
            </a:r>
            <a:r>
              <a:rPr sz="1700" spc="24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one</a:t>
            </a:r>
            <a:r>
              <a:rPr sz="1700" spc="25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location</a:t>
            </a:r>
            <a:r>
              <a:rPr sz="1700" spc="30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50" dirty="0">
                <a:solidFill>
                  <a:srgbClr val="3F5D7E"/>
                </a:solidFill>
                <a:latin typeface="Arial"/>
                <a:cs typeface="Arial"/>
              </a:rPr>
              <a:t>and</a:t>
            </a:r>
            <a:r>
              <a:rPr sz="1700" spc="215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system-</a:t>
            </a:r>
            <a:r>
              <a:rPr sz="1700" spc="-20" dirty="0">
                <a:solidFill>
                  <a:srgbClr val="3F5D7E"/>
                </a:solidFill>
                <a:latin typeface="Arial"/>
                <a:cs typeface="Arial"/>
              </a:rPr>
              <a:t>wide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data</a:t>
            </a:r>
            <a:r>
              <a:rPr sz="1700" spc="5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consistency</a:t>
            </a:r>
            <a:r>
              <a:rPr sz="1700" spc="18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3F5D7E"/>
                </a:solidFill>
                <a:latin typeface="Arial"/>
                <a:cs typeface="Arial"/>
              </a:rPr>
              <a:t>is</a:t>
            </a:r>
            <a:r>
              <a:rPr sz="1700" spc="60" dirty="0">
                <a:solidFill>
                  <a:srgbClr val="3F5D7E"/>
                </a:solidFill>
                <a:latin typeface="Arial"/>
                <a:cs typeface="Arial"/>
              </a:rPr>
              <a:t> </a:t>
            </a:r>
            <a:r>
              <a:rPr sz="1700" spc="-10" dirty="0">
                <a:solidFill>
                  <a:srgbClr val="3F5D7E"/>
                </a:solidFill>
                <a:latin typeface="Arial"/>
                <a:cs typeface="Arial"/>
              </a:rPr>
              <a:t>mandatory.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</TotalTime>
  <Words>702</Words>
  <Application>Microsoft Office PowerPoint</Application>
  <PresentationFormat>Custom</PresentationFormat>
  <Paragraphs>105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Courier New</vt:lpstr>
      <vt:lpstr>Times New Roman</vt:lpstr>
      <vt:lpstr>Wingdings</vt:lpstr>
      <vt:lpstr>Office Theme</vt:lpstr>
      <vt:lpstr>PowerPoint Presentation</vt:lpstr>
      <vt:lpstr>Introduction</vt:lpstr>
      <vt:lpstr>PowerPoint Presentation</vt:lpstr>
      <vt:lpstr>PowerPoint Presentation</vt:lpstr>
      <vt:lpstr> CAN Characteristics</vt:lpstr>
      <vt:lpstr>PowerPoint Presentation</vt:lpstr>
      <vt:lpstr>PowerPoint Presentation</vt:lpstr>
      <vt:lpstr>CAN data rate</vt:lpstr>
      <vt:lpstr>PowerPoint Presentation</vt:lpstr>
      <vt:lpstr>PowerPoint Presentation</vt:lpstr>
      <vt:lpstr>PowerPoint Presentation</vt:lpstr>
      <vt:lpstr>CAN ARBITRATION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CAN Advantages</vt:lpstr>
      <vt:lpstr>CAN Disadvantages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EMBEDDED</dc:creator>
  <cp:lastModifiedBy>Noufal A</cp:lastModifiedBy>
  <cp:revision>24</cp:revision>
  <dcterms:created xsi:type="dcterms:W3CDTF">2024-08-07T04:37:39Z</dcterms:created>
  <dcterms:modified xsi:type="dcterms:W3CDTF">2025-10-25T04:08:27Z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2024-03-20T00:00:00Z</vt:filetime>
  </property>
  <property fmtid="{D5CDD505-2E9C-101B-9397-08002B2CF9AE}" pid="3" name="LastSaved">
    <vt:filetime>2024-08-07T00:00:00Z</vt:filetime>
  </property>
</Properties>
</file>